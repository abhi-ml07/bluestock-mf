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snapToObjects="1">
      <p:cViewPr varScale="1">
        <p:scale>
          <a:sx n="84" d="100"/>
          <a:sy n="84" d="100"/>
        </p:scale>
        <p:origin x="49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microsoft.com/office/2007/relationships/hdphoto" Target="../media/hdphoto1.wdp"/><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10.png"/><Relationship Id="rId16" Type="http://schemas.microsoft.com/office/2007/relationships/hdphoto" Target="../media/hdphoto1.wdp"/><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5" Type="http://schemas.openxmlformats.org/officeDocument/2006/relationships/image" Target="../media/image9.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4.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21" Type="http://schemas.microsoft.com/office/2007/relationships/hdphoto" Target="../media/hdphoto1.wdp"/><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image" Target="../media/image10.png"/><Relationship Id="rId16" Type="http://schemas.openxmlformats.org/officeDocument/2006/relationships/image" Target="../media/image54.png"/><Relationship Id="rId20"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1.png"/><Relationship Id="rId11" Type="http://schemas.microsoft.com/office/2007/relationships/hdphoto" Target="../media/hdphoto1.wdp"/><Relationship Id="rId5" Type="http://schemas.openxmlformats.org/officeDocument/2006/relationships/image" Target="../media/image60.png"/><Relationship Id="rId10" Type="http://schemas.openxmlformats.org/officeDocument/2006/relationships/image" Target="../media/image9.png"/><Relationship Id="rId4" Type="http://schemas.openxmlformats.org/officeDocument/2006/relationships/image" Target="../media/image59.png"/><Relationship Id="rId9" Type="http://schemas.openxmlformats.org/officeDocument/2006/relationships/image" Target="../media/image64.png"/></Relationships>
</file>

<file path=ppt/slides/_rels/slide6.xml.rels><?xml version="1.0" encoding="UTF-8" standalone="yes"?>
<Relationships xmlns="http://schemas.openxmlformats.org/package/2006/relationships"><Relationship Id="rId8" Type="http://schemas.openxmlformats.org/officeDocument/2006/relationships/image" Target="../media/image68.png"/><Relationship Id="rId13" Type="http://schemas.microsoft.com/office/2007/relationships/hdphoto" Target="../media/hdphoto1.wdp"/><Relationship Id="rId3" Type="http://schemas.openxmlformats.org/officeDocument/2006/relationships/image" Target="../media/image29.png"/><Relationship Id="rId7" Type="http://schemas.openxmlformats.org/officeDocument/2006/relationships/image" Target="../media/image67.png"/><Relationship Id="rId12"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71.png"/><Relationship Id="rId5" Type="http://schemas.openxmlformats.org/officeDocument/2006/relationships/image" Target="../media/image66.png"/><Relationship Id="rId10" Type="http://schemas.openxmlformats.org/officeDocument/2006/relationships/image" Target="../media/image70.png"/><Relationship Id="rId4" Type="http://schemas.openxmlformats.org/officeDocument/2006/relationships/image" Target="../media/image65.png"/><Relationship Id="rId9" Type="http://schemas.openxmlformats.org/officeDocument/2006/relationships/image" Target="../media/image69.png"/></Relationships>
</file>

<file path=ppt/slides/_rels/slide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75.png"/><Relationship Id="rId11" Type="http://schemas.microsoft.com/office/2007/relationships/hdphoto" Target="../media/hdphoto1.wdp"/><Relationship Id="rId5" Type="http://schemas.openxmlformats.org/officeDocument/2006/relationships/image" Target="../media/image74.png"/><Relationship Id="rId10" Type="http://schemas.openxmlformats.org/officeDocument/2006/relationships/image" Target="../media/image9.png"/><Relationship Id="rId4" Type="http://schemas.openxmlformats.org/officeDocument/2006/relationships/image" Target="../media/image73.png"/><Relationship Id="rId9" Type="http://schemas.openxmlformats.org/officeDocument/2006/relationships/image" Target="../media/image78.png"/></Relationships>
</file>

<file path=ppt/slides/_rels/slide8.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3" Type="http://schemas.openxmlformats.org/officeDocument/2006/relationships/image" Target="../media/image79.png"/><Relationship Id="rId7" Type="http://schemas.openxmlformats.org/officeDocument/2006/relationships/image" Target="../media/image83.png"/><Relationship Id="rId12" Type="http://schemas.openxmlformats.org/officeDocument/2006/relationships/image" Target="../media/image88.png"/><Relationship Id="rId2" Type="http://schemas.openxmlformats.org/officeDocument/2006/relationships/image" Target="../media/image10.png"/><Relationship Id="rId16" Type="http://schemas.microsoft.com/office/2007/relationships/hdphoto" Target="../media/hdphoto1.wdp"/><Relationship Id="rId1" Type="http://schemas.openxmlformats.org/officeDocument/2006/relationships/slideLayout" Target="../slideLayouts/slideLayout7.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9.png"/><Relationship Id="rId10" Type="http://schemas.openxmlformats.org/officeDocument/2006/relationships/image" Target="../media/image86.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91.png"/><Relationship Id="rId7" Type="http://schemas.openxmlformats.org/officeDocument/2006/relationships/image" Target="../media/image9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94.png"/><Relationship Id="rId5" Type="http://schemas.openxmlformats.org/officeDocument/2006/relationships/image" Target="../media/image93.png"/><Relationship Id="rId4" Type="http://schemas.openxmlformats.org/officeDocument/2006/relationships/image" Target="../media/image92.png"/><Relationship Id="rId9" Type="http://schemas.microsoft.com/office/2007/relationships/hdphoto" Target="../media/hdphoto1.wdp"/></Relationships>
</file>

<file path=ppt/slides/_rels/slide10.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9.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image" Target="../media/image109.png"/><Relationship Id="rId2" Type="http://schemas.openxmlformats.org/officeDocument/2006/relationships/image" Target="../media/image10.png"/><Relationship Id="rId16" Type="http://schemas.openxmlformats.org/officeDocument/2006/relationships/image" Target="../media/image95.png"/><Relationship Id="rId1" Type="http://schemas.openxmlformats.org/officeDocument/2006/relationships/slideLayout" Target="../slideLayouts/slideLayout7.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image" Target="../media/image108.png"/><Relationship Id="rId10" Type="http://schemas.openxmlformats.org/officeDocument/2006/relationships/image" Target="../media/image103.png"/><Relationship Id="rId19" Type="http://schemas.microsoft.com/office/2007/relationships/hdphoto" Target="../media/hdphoto1.wdp"/><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11.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image" Target="../media/image110.png"/><Relationship Id="rId7" Type="http://schemas.openxmlformats.org/officeDocument/2006/relationships/image" Target="../media/image114.png"/><Relationship Id="rId12" Type="http://schemas.openxmlformats.org/officeDocument/2006/relationships/image" Target="../media/image119.png"/><Relationship Id="rId17" Type="http://schemas.microsoft.com/office/2007/relationships/hdphoto" Target="../media/hdphoto1.wdp"/><Relationship Id="rId2" Type="http://schemas.openxmlformats.org/officeDocument/2006/relationships/image" Target="../media/image10.png"/><Relationship Id="rId16"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5" Type="http://schemas.openxmlformats.org/officeDocument/2006/relationships/image" Target="../media/image122.png"/><Relationship Id="rId10" Type="http://schemas.openxmlformats.org/officeDocument/2006/relationships/image" Target="../media/image117.png"/><Relationship Id="rId4" Type="http://schemas.openxmlformats.org/officeDocument/2006/relationships/image" Target="../media/image111.png"/><Relationship Id="rId9" Type="http://schemas.openxmlformats.org/officeDocument/2006/relationships/image" Target="../media/image116.png"/><Relationship Id="rId14" Type="http://schemas.openxmlformats.org/officeDocument/2006/relationships/image" Target="../media/image121.png"/></Relationships>
</file>

<file path=ppt/slides/_rels/slide1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pn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9.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4763"/>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6248400"/>
            <a:ext cx="11239500" cy="323850"/>
          </a:xfrm>
          <a:prstGeom prst="rect">
            <a:avLst/>
          </a:prstGeom>
        </p:spPr>
      </p:pic>
      <p:sp>
        <p:nvSpPr>
          <p:cNvPr id="5" name="TextBox 4"/>
          <p:cNvSpPr txBox="1"/>
          <p:nvPr/>
        </p:nvSpPr>
        <p:spPr>
          <a:xfrm>
            <a:off x="476250" y="1447800"/>
            <a:ext cx="8431053" cy="492443"/>
          </a:xfrm>
          <a:prstGeom prst="rect">
            <a:avLst/>
          </a:prstGeom>
          <a:noFill/>
        </p:spPr>
        <p:txBody>
          <a:bodyPr wrap="square" lIns="0" tIns="0" rIns="0" bIns="0" anchor="t">
            <a:spAutoFit/>
          </a:bodyPr>
          <a:lstStyle/>
          <a:p>
            <a:r>
              <a:rPr lang="en-IN" sz="3200" dirty="0">
                <a:solidFill>
                  <a:schemeClr val="bg1"/>
                </a:solidFill>
                <a:latin typeface="Mongolian Baiti" panose="03000500000000000000" pitchFamily="66" charset="0"/>
                <a:cs typeface="Mongolian Baiti" panose="03000500000000000000" pitchFamily="66" charset="0"/>
              </a:rPr>
              <a:t>Capstone Project I - Mutual Fund Analytics</a:t>
            </a:r>
          </a:p>
        </p:txBody>
      </p:sp>
      <p:sp>
        <p:nvSpPr>
          <p:cNvPr id="6" name="TextBox 5"/>
          <p:cNvSpPr txBox="1"/>
          <p:nvPr/>
        </p:nvSpPr>
        <p:spPr>
          <a:xfrm>
            <a:off x="476250" y="2128837"/>
            <a:ext cx="7620000" cy="533400"/>
          </a:xfrm>
          <a:prstGeom prst="rect">
            <a:avLst/>
          </a:prstGeom>
          <a:noFill/>
        </p:spPr>
        <p:txBody>
          <a:bodyPr wrap="square" lIns="0" tIns="0" rIns="0" bIns="0" anchor="t">
            <a:spAutoFit/>
          </a:bodyPr>
          <a:lstStyle/>
          <a:p>
            <a:pPr algn="l">
              <a:lnSpc>
                <a:spcPts val="2100"/>
              </a:lnSpc>
            </a:pPr>
            <a:r>
              <a:rPr sz="1500" b="0" i="0" u="none">
                <a:solidFill>
                  <a:srgbClr val="DDF2FD"/>
                </a:solidFill>
                <a:latin typeface="Open Sans"/>
              </a:rPr>
              <a:t>An End-to-End Financial Data Engineering, Exploratory Analytics &amp; Interactive Power BI Analytics Solution</a:t>
            </a:r>
          </a:p>
        </p:txBody>
      </p:sp>
      <p:sp>
        <p:nvSpPr>
          <p:cNvPr id="7" name="TextBox 6"/>
          <p:cNvSpPr txBox="1"/>
          <p:nvPr/>
        </p:nvSpPr>
        <p:spPr>
          <a:xfrm>
            <a:off x="476250" y="6400800"/>
            <a:ext cx="1657350" cy="150041"/>
          </a:xfrm>
          <a:prstGeom prst="rect">
            <a:avLst/>
          </a:prstGeom>
          <a:noFill/>
        </p:spPr>
        <p:txBody>
          <a:bodyPr wrap="square" lIns="0" tIns="0" rIns="0" bIns="0" anchor="t">
            <a:spAutoFit/>
          </a:bodyPr>
          <a:lstStyle/>
          <a:p>
            <a:pPr algn="l"/>
            <a:r>
              <a:rPr lang="en-US" sz="975" b="0" i="0" u="none" dirty="0">
                <a:solidFill>
                  <a:srgbClr val="C2D9FF"/>
                </a:solidFill>
                <a:latin typeface="Open Sans"/>
              </a:rPr>
              <a:t>Abhishek Mondal</a:t>
            </a:r>
            <a:endParaRPr sz="975" b="0" i="0" u="none" dirty="0">
              <a:solidFill>
                <a:srgbClr val="C2D9FF"/>
              </a:solidFill>
              <a:latin typeface="Open Sans"/>
            </a:endParaRPr>
          </a:p>
        </p:txBody>
      </p:sp>
      <p:sp>
        <p:nvSpPr>
          <p:cNvPr id="8" name="TextBox 7"/>
          <p:cNvSpPr txBox="1"/>
          <p:nvPr/>
        </p:nvSpPr>
        <p:spPr>
          <a:xfrm>
            <a:off x="8562975" y="6400800"/>
            <a:ext cx="3152775" cy="300082"/>
          </a:xfrm>
          <a:prstGeom prst="rect">
            <a:avLst/>
          </a:prstGeom>
          <a:noFill/>
        </p:spPr>
        <p:txBody>
          <a:bodyPr wrap="square" lIns="0" tIns="0" rIns="0" bIns="0" anchor="t">
            <a:spAutoFit/>
          </a:bodyPr>
          <a:lstStyle/>
          <a:p>
            <a:pPr algn="l"/>
            <a:r>
              <a:rPr sz="975" b="0" i="0" u="none" dirty="0">
                <a:solidFill>
                  <a:srgbClr val="C2D9FF"/>
                </a:solidFill>
                <a:latin typeface="Open Sans"/>
              </a:rPr>
              <a:t>40 Schemes | 64,320 NAV Records | 32,778 Transactions</a:t>
            </a:r>
          </a:p>
        </p:txBody>
      </p:sp>
      <p:sp>
        <p:nvSpPr>
          <p:cNvPr id="10" name="TextBox 9"/>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rgbClr val="DDF2FD"/>
                </a:solidFill>
                <a:latin typeface="Poppins"/>
              </a:rPr>
              <a:t>Bluestock</a:t>
            </a:r>
            <a:r>
              <a:rPr lang="en-US" sz="1200" b="1" i="0" u="none" dirty="0">
                <a:solidFill>
                  <a:srgbClr val="DDF2FD"/>
                </a:solidFill>
                <a:latin typeface="Poppins"/>
              </a:rPr>
              <a:t> Fintech</a:t>
            </a:r>
            <a:endParaRPr sz="1200" b="1" i="0" u="none" dirty="0">
              <a:solidFill>
                <a:srgbClr val="DDF2FD"/>
              </a:solidFill>
              <a:latin typeface="Poppins"/>
            </a:endParaRPr>
          </a:p>
        </p:txBody>
      </p:sp>
      <p:sp>
        <p:nvSpPr>
          <p:cNvPr id="11" name="TextBox 10"/>
          <p:cNvSpPr txBox="1"/>
          <p:nvPr/>
        </p:nvSpPr>
        <p:spPr>
          <a:xfrm>
            <a:off x="476250" y="3138487"/>
            <a:ext cx="8029575" cy="171450"/>
          </a:xfrm>
          <a:prstGeom prst="rect">
            <a:avLst/>
          </a:prstGeom>
          <a:noFill/>
        </p:spPr>
        <p:txBody>
          <a:bodyPr wrap="square" lIns="0" tIns="0" rIns="0" bIns="0" anchor="t">
            <a:spAutoFit/>
          </a:bodyPr>
          <a:lstStyle/>
          <a:p>
            <a:pPr algn="l">
              <a:lnSpc>
                <a:spcPts val="1350"/>
              </a:lnSpc>
            </a:pPr>
            <a:r>
              <a:rPr sz="900" b="0" i="0" u="none">
                <a:solidFill>
                  <a:srgbClr val="C2D9FF"/>
                </a:solidFill>
                <a:latin typeface="Poppins"/>
              </a:rPr>
              <a:t>CORE TECHNOLOGY STACK &amp; FRAMEWORKS</a:t>
            </a:r>
          </a:p>
        </p:txBody>
      </p:sp>
      <p:pic>
        <p:nvPicPr>
          <p:cNvPr id="12" name="Picture 11" descr="image.png"/>
          <p:cNvPicPr>
            <a:picLocks noChangeAspect="1"/>
          </p:cNvPicPr>
          <p:nvPr/>
        </p:nvPicPr>
        <p:blipFill>
          <a:blip r:embed="rId4"/>
          <a:stretch>
            <a:fillRect/>
          </a:stretch>
        </p:blipFill>
        <p:spPr>
          <a:xfrm>
            <a:off x="476250" y="3424237"/>
            <a:ext cx="904875" cy="323850"/>
          </a:xfrm>
          <a:prstGeom prst="rect">
            <a:avLst/>
          </a:prstGeom>
        </p:spPr>
      </p:pic>
      <p:pic>
        <p:nvPicPr>
          <p:cNvPr id="13" name="Picture 12" descr="image.png"/>
          <p:cNvPicPr>
            <a:picLocks noChangeAspect="1"/>
          </p:cNvPicPr>
          <p:nvPr/>
        </p:nvPicPr>
        <p:blipFill>
          <a:blip r:embed="rId5"/>
          <a:stretch>
            <a:fillRect/>
          </a:stretch>
        </p:blipFill>
        <p:spPr>
          <a:xfrm>
            <a:off x="1495425" y="3424237"/>
            <a:ext cx="1257300" cy="323850"/>
          </a:xfrm>
          <a:prstGeom prst="rect">
            <a:avLst/>
          </a:prstGeom>
        </p:spPr>
      </p:pic>
      <p:pic>
        <p:nvPicPr>
          <p:cNvPr id="14" name="Picture 13" descr="image.png"/>
          <p:cNvPicPr>
            <a:picLocks noChangeAspect="1"/>
          </p:cNvPicPr>
          <p:nvPr/>
        </p:nvPicPr>
        <p:blipFill>
          <a:blip r:embed="rId6"/>
          <a:stretch>
            <a:fillRect/>
          </a:stretch>
        </p:blipFill>
        <p:spPr>
          <a:xfrm>
            <a:off x="2867025" y="3424237"/>
            <a:ext cx="1524000" cy="323850"/>
          </a:xfrm>
          <a:prstGeom prst="rect">
            <a:avLst/>
          </a:prstGeom>
        </p:spPr>
      </p:pic>
      <p:pic>
        <p:nvPicPr>
          <p:cNvPr id="15" name="Picture 14" descr="image.png"/>
          <p:cNvPicPr>
            <a:picLocks noChangeAspect="1"/>
          </p:cNvPicPr>
          <p:nvPr/>
        </p:nvPicPr>
        <p:blipFill>
          <a:blip r:embed="rId7"/>
          <a:stretch>
            <a:fillRect/>
          </a:stretch>
        </p:blipFill>
        <p:spPr>
          <a:xfrm>
            <a:off x="4505325" y="3424237"/>
            <a:ext cx="1028700" cy="323850"/>
          </a:xfrm>
          <a:prstGeom prst="rect">
            <a:avLst/>
          </a:prstGeom>
        </p:spPr>
      </p:pic>
      <p:pic>
        <p:nvPicPr>
          <p:cNvPr id="16" name="Picture 15" descr="image.png"/>
          <p:cNvPicPr>
            <a:picLocks noChangeAspect="1"/>
          </p:cNvPicPr>
          <p:nvPr/>
        </p:nvPicPr>
        <p:blipFill>
          <a:blip r:embed="rId8"/>
          <a:stretch>
            <a:fillRect/>
          </a:stretch>
        </p:blipFill>
        <p:spPr>
          <a:xfrm>
            <a:off x="5648325" y="3424237"/>
            <a:ext cx="1533525" cy="323850"/>
          </a:xfrm>
          <a:prstGeom prst="rect">
            <a:avLst/>
          </a:prstGeom>
        </p:spPr>
      </p:pic>
      <p:pic>
        <p:nvPicPr>
          <p:cNvPr id="17" name="Picture 16" descr="image.png"/>
          <p:cNvPicPr>
            <a:picLocks noChangeAspect="1"/>
          </p:cNvPicPr>
          <p:nvPr/>
        </p:nvPicPr>
        <p:blipFill>
          <a:blip r:embed="rId9"/>
          <a:stretch>
            <a:fillRect/>
          </a:stretch>
        </p:blipFill>
        <p:spPr>
          <a:xfrm>
            <a:off x="7296150" y="3424237"/>
            <a:ext cx="1209675" cy="323850"/>
          </a:xfrm>
          <a:prstGeom prst="rect">
            <a:avLst/>
          </a:prstGeom>
        </p:spPr>
      </p:pic>
      <p:pic>
        <p:nvPicPr>
          <p:cNvPr id="25" name="Picture 24">
            <a:extLst>
              <a:ext uri="{FF2B5EF4-FFF2-40B4-BE49-F238E27FC236}">
                <a16:creationId xmlns:a16="http://schemas.microsoft.com/office/drawing/2014/main" id="{D5A4381B-D9F4-FC1E-08EF-D2393F5A9DC3}"/>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067544" y="415884"/>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5505450" cy="2905125"/>
          </a:xfrm>
          <a:prstGeom prst="rect">
            <a:avLst/>
          </a:prstGeom>
        </p:spPr>
      </p:pic>
      <p:pic>
        <p:nvPicPr>
          <p:cNvPr id="4" name="Picture 3" descr="image.png"/>
          <p:cNvPicPr>
            <a:picLocks noChangeAspect="1"/>
          </p:cNvPicPr>
          <p:nvPr/>
        </p:nvPicPr>
        <p:blipFill>
          <a:blip r:embed="rId4"/>
          <a:stretch>
            <a:fillRect/>
          </a:stretch>
        </p:blipFill>
        <p:spPr>
          <a:xfrm>
            <a:off x="6210300" y="1013370"/>
            <a:ext cx="5505450" cy="2905125"/>
          </a:xfrm>
          <a:prstGeom prst="rect">
            <a:avLst/>
          </a:prstGeom>
        </p:spPr>
      </p:pic>
      <p:pic>
        <p:nvPicPr>
          <p:cNvPr id="5" name="Picture 4" descr="image.png"/>
          <p:cNvPicPr>
            <a:picLocks noChangeAspect="1"/>
          </p:cNvPicPr>
          <p:nvPr/>
        </p:nvPicPr>
        <p:blipFill>
          <a:blip r:embed="rId5"/>
          <a:stretch>
            <a:fillRect/>
          </a:stretch>
        </p:blipFill>
        <p:spPr>
          <a:xfrm>
            <a:off x="476250" y="4475708"/>
            <a:ext cx="11239500" cy="1009650"/>
          </a:xfrm>
          <a:prstGeom prst="rect">
            <a:avLst/>
          </a:prstGeom>
        </p:spPr>
      </p:pic>
      <p:sp>
        <p:nvSpPr>
          <p:cNvPr id="7" name="TextBox 6"/>
          <p:cNvSpPr txBox="1"/>
          <p:nvPr/>
        </p:nvSpPr>
        <p:spPr>
          <a:xfrm>
            <a:off x="476250" y="4147095"/>
            <a:ext cx="11239500" cy="185737"/>
          </a:xfrm>
          <a:prstGeom prst="rect">
            <a:avLst/>
          </a:prstGeom>
          <a:noFill/>
        </p:spPr>
        <p:txBody>
          <a:bodyPr wrap="square" lIns="0" tIns="0" rIns="0" bIns="0" anchor="t">
            <a:spAutoFit/>
          </a:bodyPr>
          <a:lstStyle/>
          <a:p>
            <a:pPr algn="l">
              <a:lnSpc>
                <a:spcPts val="1462"/>
              </a:lnSpc>
            </a:pPr>
            <a:r>
              <a:rPr sz="975" b="0" i="0" u="none">
                <a:solidFill>
                  <a:srgbClr val="190482"/>
                </a:solidFill>
                <a:latin typeface="Poppins SemiBold"/>
              </a:rPr>
              <a:t>End-to-End System Data Flow</a:t>
            </a:r>
          </a:p>
        </p:txBody>
      </p:sp>
      <p:sp>
        <p:nvSpPr>
          <p:cNvPr id="8" name="TextBox 7"/>
          <p:cNvSpPr txBox="1"/>
          <p:nvPr/>
        </p:nvSpPr>
        <p:spPr>
          <a:xfrm>
            <a:off x="981075" y="1213395"/>
            <a:ext cx="4800600" cy="257175"/>
          </a:xfrm>
          <a:prstGeom prst="rect">
            <a:avLst/>
          </a:prstGeom>
          <a:noFill/>
        </p:spPr>
        <p:txBody>
          <a:bodyPr wrap="square" lIns="0" tIns="0" rIns="0" bIns="0" anchor="ctr">
            <a:spAutoFit/>
          </a:bodyPr>
          <a:lstStyle/>
          <a:p>
            <a:pPr algn="l"/>
            <a:r>
              <a:rPr sz="1350" b="0" i="0" u="none">
                <a:solidFill>
                  <a:srgbClr val="190482"/>
                </a:solidFill>
                <a:latin typeface="Poppins SemiBold"/>
              </a:rPr>
              <a:t>The Financial Data Challenge</a:t>
            </a:r>
          </a:p>
        </p:txBody>
      </p:sp>
      <p:sp>
        <p:nvSpPr>
          <p:cNvPr id="9" name="TextBox 8"/>
          <p:cNvSpPr txBox="1"/>
          <p:nvPr/>
        </p:nvSpPr>
        <p:spPr>
          <a:xfrm>
            <a:off x="714375" y="1565820"/>
            <a:ext cx="506730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Open Sans"/>
              </a:rPr>
              <a:t>Mutual fund data is fragmented across multiple disparate sources including AMFI, MFAPI, and market exchanges. It contains complex, raw details on daily NAVs, fund AUMs, investor transactions, SIP flows, and market benchmarks.</a:t>
            </a:r>
          </a:p>
        </p:txBody>
      </p:sp>
      <p:sp>
        <p:nvSpPr>
          <p:cNvPr id="10" name="TextBox 9"/>
          <p:cNvSpPr txBox="1"/>
          <p:nvPr/>
        </p:nvSpPr>
        <p:spPr>
          <a:xfrm>
            <a:off x="6715125" y="1213395"/>
            <a:ext cx="4800600" cy="257175"/>
          </a:xfrm>
          <a:prstGeom prst="rect">
            <a:avLst/>
          </a:prstGeom>
          <a:noFill/>
        </p:spPr>
        <p:txBody>
          <a:bodyPr wrap="square" lIns="0" tIns="0" rIns="0" bIns="0" anchor="ctr">
            <a:spAutoFit/>
          </a:bodyPr>
          <a:lstStyle/>
          <a:p>
            <a:pPr algn="l"/>
            <a:r>
              <a:rPr sz="1350" b="0" i="0" u="none">
                <a:solidFill>
                  <a:srgbClr val="190482"/>
                </a:solidFill>
                <a:latin typeface="Poppins SemiBold"/>
              </a:rPr>
              <a:t>Platform Objective</a:t>
            </a:r>
          </a:p>
        </p:txBody>
      </p:sp>
      <p:sp>
        <p:nvSpPr>
          <p:cNvPr id="11" name="TextBox 10"/>
          <p:cNvSpPr txBox="1"/>
          <p:nvPr/>
        </p:nvSpPr>
        <p:spPr>
          <a:xfrm>
            <a:off x="6448425" y="1565820"/>
            <a:ext cx="5067300" cy="600075"/>
          </a:xfrm>
          <a:prstGeom prst="rect">
            <a:avLst/>
          </a:prstGeom>
          <a:noFill/>
        </p:spPr>
        <p:txBody>
          <a:bodyPr wrap="square" lIns="0" tIns="0" rIns="0" bIns="0" anchor="t">
            <a:spAutoFit/>
          </a:bodyPr>
          <a:lstStyle/>
          <a:p>
            <a:pPr algn="l">
              <a:lnSpc>
                <a:spcPts val="1575"/>
              </a:lnSpc>
            </a:pPr>
            <a:r>
              <a:rPr sz="1050" b="0" i="0" u="none">
                <a:solidFill>
                  <a:srgbClr val="475569"/>
                </a:solidFill>
                <a:latin typeface="Open Sans"/>
              </a:rPr>
              <a:t>Build a production-grade, end-to-end Mutual Fund Analytics Platform to collect, clean, transform, store, and analyze data for evaluating fund performance, investor risk, SIP trends, and portfolio behavior.</a:t>
            </a:r>
          </a:p>
        </p:txBody>
      </p:sp>
      <p:pic>
        <p:nvPicPr>
          <p:cNvPr id="12" name="Picture 11" descr="image.png"/>
          <p:cNvPicPr>
            <a:picLocks noChangeAspect="1"/>
          </p:cNvPicPr>
          <p:nvPr/>
        </p:nvPicPr>
        <p:blipFill>
          <a:blip r:embed="rId6"/>
          <a:stretch>
            <a:fillRect/>
          </a:stretch>
        </p:blipFill>
        <p:spPr>
          <a:xfrm>
            <a:off x="714375" y="1256258"/>
            <a:ext cx="171450" cy="171450"/>
          </a:xfrm>
          <a:prstGeom prst="rect">
            <a:avLst/>
          </a:prstGeom>
        </p:spPr>
      </p:pic>
      <p:sp>
        <p:nvSpPr>
          <p:cNvPr id="13" name="TextBox 12"/>
          <p:cNvSpPr txBox="1"/>
          <p:nvPr/>
        </p:nvSpPr>
        <p:spPr>
          <a:xfrm>
            <a:off x="828675" y="227781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4" name="TextBox 13"/>
          <p:cNvSpPr txBox="1"/>
          <p:nvPr/>
        </p:nvSpPr>
        <p:spPr>
          <a:xfrm>
            <a:off x="885825" y="2280195"/>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Data Fragmentation:</a:t>
            </a:r>
            <a:r>
              <a:rPr sz="1125" b="0" i="0" u="none">
                <a:solidFill>
                  <a:srgbClr val="222222"/>
                </a:solidFill>
                <a:latin typeface="Open Sans"/>
              </a:rPr>
              <a:t> Unstructured raw feeds hinder consolidated reporting.</a:t>
            </a:r>
          </a:p>
        </p:txBody>
      </p:sp>
      <p:sp>
        <p:nvSpPr>
          <p:cNvPr id="15" name="TextBox 14"/>
          <p:cNvSpPr txBox="1"/>
          <p:nvPr/>
        </p:nvSpPr>
        <p:spPr>
          <a:xfrm>
            <a:off x="828675" y="278263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6" name="TextBox 15"/>
          <p:cNvSpPr txBox="1"/>
          <p:nvPr/>
        </p:nvSpPr>
        <p:spPr>
          <a:xfrm>
            <a:off x="885825" y="2785020"/>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Risk Identification:</a:t>
            </a:r>
            <a:r>
              <a:rPr sz="1125" b="0" i="0" u="none">
                <a:solidFill>
                  <a:srgbClr val="222222"/>
                </a:solidFill>
                <a:latin typeface="Open Sans"/>
              </a:rPr>
              <a:t> Lack of automated risk metrics (Sharpe, Sortino, Drawdown).</a:t>
            </a:r>
          </a:p>
        </p:txBody>
      </p:sp>
      <p:sp>
        <p:nvSpPr>
          <p:cNvPr id="17" name="TextBox 16"/>
          <p:cNvSpPr txBox="1"/>
          <p:nvPr/>
        </p:nvSpPr>
        <p:spPr>
          <a:xfrm>
            <a:off x="828675" y="328746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8" name="TextBox 17"/>
          <p:cNvSpPr txBox="1"/>
          <p:nvPr/>
        </p:nvSpPr>
        <p:spPr>
          <a:xfrm>
            <a:off x="885825" y="3289845"/>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Actionable Insights:</a:t>
            </a:r>
            <a:r>
              <a:rPr sz="1125" b="0" i="0" u="none">
                <a:solidFill>
                  <a:srgbClr val="222222"/>
                </a:solidFill>
                <a:latin typeface="Open Sans"/>
              </a:rPr>
              <a:t> Retail investors struggle to compare fund efficiency effectively.</a:t>
            </a:r>
          </a:p>
        </p:txBody>
      </p:sp>
      <p:pic>
        <p:nvPicPr>
          <p:cNvPr id="19" name="Picture 18" descr="image.png"/>
          <p:cNvPicPr>
            <a:picLocks noChangeAspect="1"/>
          </p:cNvPicPr>
          <p:nvPr/>
        </p:nvPicPr>
        <p:blipFill>
          <a:blip r:embed="rId7"/>
          <a:stretch>
            <a:fillRect/>
          </a:stretch>
        </p:blipFill>
        <p:spPr>
          <a:xfrm>
            <a:off x="6448425" y="1256258"/>
            <a:ext cx="171450" cy="171450"/>
          </a:xfrm>
          <a:prstGeom prst="rect">
            <a:avLst/>
          </a:prstGeom>
        </p:spPr>
      </p:pic>
      <p:sp>
        <p:nvSpPr>
          <p:cNvPr id="20" name="TextBox 19"/>
          <p:cNvSpPr txBox="1"/>
          <p:nvPr/>
        </p:nvSpPr>
        <p:spPr>
          <a:xfrm>
            <a:off x="6562725" y="227781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1" name="TextBox 20"/>
          <p:cNvSpPr txBox="1"/>
          <p:nvPr/>
        </p:nvSpPr>
        <p:spPr>
          <a:xfrm>
            <a:off x="6619875" y="2280195"/>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ETL Pipeline:</a:t>
            </a:r>
            <a:r>
              <a:rPr sz="1125" b="0" i="0" u="none">
                <a:solidFill>
                  <a:srgbClr val="222222"/>
                </a:solidFill>
                <a:latin typeface="Open Sans"/>
              </a:rPr>
              <a:t> Clean and structure raw inputs into SQLite relational storage.</a:t>
            </a:r>
          </a:p>
        </p:txBody>
      </p:sp>
      <p:sp>
        <p:nvSpPr>
          <p:cNvPr id="22" name="TextBox 21"/>
          <p:cNvSpPr txBox="1"/>
          <p:nvPr/>
        </p:nvSpPr>
        <p:spPr>
          <a:xfrm>
            <a:off x="6562725" y="278263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3" name="TextBox 22"/>
          <p:cNvSpPr txBox="1"/>
          <p:nvPr/>
        </p:nvSpPr>
        <p:spPr>
          <a:xfrm>
            <a:off x="6619875" y="2785020"/>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Advanced Analytics:</a:t>
            </a:r>
            <a:r>
              <a:rPr sz="1125" b="0" i="0" u="none">
                <a:solidFill>
                  <a:srgbClr val="222222"/>
                </a:solidFill>
                <a:latin typeface="Open Sans"/>
              </a:rPr>
              <a:t> Compute CAGR, Alpha, Beta, VaR, and fund scorecards.</a:t>
            </a:r>
          </a:p>
        </p:txBody>
      </p:sp>
      <p:sp>
        <p:nvSpPr>
          <p:cNvPr id="24" name="TextBox 23"/>
          <p:cNvSpPr txBox="1"/>
          <p:nvPr/>
        </p:nvSpPr>
        <p:spPr>
          <a:xfrm>
            <a:off x="6562725" y="328746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5" name="TextBox 24"/>
          <p:cNvSpPr txBox="1"/>
          <p:nvPr/>
        </p:nvSpPr>
        <p:spPr>
          <a:xfrm>
            <a:off x="6619875" y="3289845"/>
            <a:ext cx="4895850" cy="214312"/>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Interactive BI:</a:t>
            </a:r>
            <a:r>
              <a:rPr sz="1125" b="0" i="0" u="none">
                <a:solidFill>
                  <a:srgbClr val="222222"/>
                </a:solidFill>
                <a:latin typeface="Open Sans"/>
              </a:rPr>
              <a:t> Deliver executive dashboard insights via Power BI.</a:t>
            </a:r>
          </a:p>
        </p:txBody>
      </p:sp>
      <p:pic>
        <p:nvPicPr>
          <p:cNvPr id="26" name="Picture 25" descr="image.png"/>
          <p:cNvPicPr>
            <a:picLocks noChangeAspect="1"/>
          </p:cNvPicPr>
          <p:nvPr/>
        </p:nvPicPr>
        <p:blipFill>
          <a:blip r:embed="rId8"/>
          <a:stretch>
            <a:fillRect/>
          </a:stretch>
        </p:blipFill>
        <p:spPr>
          <a:xfrm>
            <a:off x="1262806" y="4637633"/>
            <a:ext cx="419100" cy="419100"/>
          </a:xfrm>
          <a:prstGeom prst="rect">
            <a:avLst/>
          </a:prstGeom>
        </p:spPr>
      </p:pic>
      <p:sp>
        <p:nvSpPr>
          <p:cNvPr id="27" name="TextBox 26"/>
          <p:cNvSpPr txBox="1"/>
          <p:nvPr/>
        </p:nvSpPr>
        <p:spPr>
          <a:xfrm>
            <a:off x="1143744" y="5132933"/>
            <a:ext cx="657225" cy="190500"/>
          </a:xfrm>
          <a:prstGeom prst="rect">
            <a:avLst/>
          </a:prstGeom>
          <a:noFill/>
        </p:spPr>
        <p:txBody>
          <a:bodyPr wrap="square" lIns="0" tIns="0" rIns="0" bIns="0" anchor="t">
            <a:spAutoFit/>
          </a:bodyPr>
          <a:lstStyle/>
          <a:p>
            <a:pPr algn="ctr"/>
            <a:r>
              <a:rPr sz="975" b="0" i="0" u="none">
                <a:solidFill>
                  <a:srgbClr val="190482"/>
                </a:solidFill>
                <a:latin typeface="Poppins SemiBold"/>
              </a:rPr>
              <a:t>Raw Data</a:t>
            </a:r>
          </a:p>
        </p:txBody>
      </p:sp>
      <p:pic>
        <p:nvPicPr>
          <p:cNvPr id="28" name="Picture 27" descr="image.png"/>
          <p:cNvPicPr>
            <a:picLocks noChangeAspect="1"/>
          </p:cNvPicPr>
          <p:nvPr/>
        </p:nvPicPr>
        <p:blipFill>
          <a:blip r:embed="rId9"/>
          <a:stretch>
            <a:fillRect/>
          </a:stretch>
        </p:blipFill>
        <p:spPr>
          <a:xfrm>
            <a:off x="2344787" y="4904333"/>
            <a:ext cx="104775" cy="171450"/>
          </a:xfrm>
          <a:prstGeom prst="rect">
            <a:avLst/>
          </a:prstGeom>
        </p:spPr>
      </p:pic>
      <p:pic>
        <p:nvPicPr>
          <p:cNvPr id="29" name="Picture 28" descr="image.png"/>
          <p:cNvPicPr>
            <a:picLocks noChangeAspect="1"/>
          </p:cNvPicPr>
          <p:nvPr/>
        </p:nvPicPr>
        <p:blipFill>
          <a:blip r:embed="rId10"/>
          <a:stretch>
            <a:fillRect/>
          </a:stretch>
        </p:blipFill>
        <p:spPr>
          <a:xfrm>
            <a:off x="3112293" y="4637633"/>
            <a:ext cx="419100" cy="419100"/>
          </a:xfrm>
          <a:prstGeom prst="rect">
            <a:avLst/>
          </a:prstGeom>
        </p:spPr>
      </p:pic>
      <p:sp>
        <p:nvSpPr>
          <p:cNvPr id="30" name="TextBox 29"/>
          <p:cNvSpPr txBox="1"/>
          <p:nvPr/>
        </p:nvSpPr>
        <p:spPr>
          <a:xfrm>
            <a:off x="2969418" y="5132933"/>
            <a:ext cx="704850" cy="190500"/>
          </a:xfrm>
          <a:prstGeom prst="rect">
            <a:avLst/>
          </a:prstGeom>
          <a:noFill/>
        </p:spPr>
        <p:txBody>
          <a:bodyPr wrap="square" lIns="0" tIns="0" rIns="0" bIns="0" anchor="t">
            <a:spAutoFit/>
          </a:bodyPr>
          <a:lstStyle/>
          <a:p>
            <a:pPr algn="ctr"/>
            <a:r>
              <a:rPr sz="975" b="0" i="0" u="none">
                <a:solidFill>
                  <a:srgbClr val="190482"/>
                </a:solidFill>
                <a:latin typeface="Poppins SemiBold"/>
              </a:rPr>
              <a:t>Python ETL</a:t>
            </a:r>
          </a:p>
        </p:txBody>
      </p:sp>
      <p:pic>
        <p:nvPicPr>
          <p:cNvPr id="31" name="Picture 30" descr="image.png"/>
          <p:cNvPicPr>
            <a:picLocks noChangeAspect="1"/>
          </p:cNvPicPr>
          <p:nvPr/>
        </p:nvPicPr>
        <p:blipFill>
          <a:blip r:embed="rId11"/>
          <a:stretch>
            <a:fillRect/>
          </a:stretch>
        </p:blipFill>
        <p:spPr>
          <a:xfrm>
            <a:off x="4194274" y="4904333"/>
            <a:ext cx="104775" cy="171450"/>
          </a:xfrm>
          <a:prstGeom prst="rect">
            <a:avLst/>
          </a:prstGeom>
        </p:spPr>
      </p:pic>
      <p:pic>
        <p:nvPicPr>
          <p:cNvPr id="32" name="Picture 31" descr="image.png"/>
          <p:cNvPicPr>
            <a:picLocks noChangeAspect="1"/>
          </p:cNvPicPr>
          <p:nvPr/>
        </p:nvPicPr>
        <p:blipFill>
          <a:blip r:embed="rId12"/>
          <a:stretch>
            <a:fillRect/>
          </a:stretch>
        </p:blipFill>
        <p:spPr>
          <a:xfrm>
            <a:off x="4961780" y="4637633"/>
            <a:ext cx="419100" cy="419100"/>
          </a:xfrm>
          <a:prstGeom prst="rect">
            <a:avLst/>
          </a:prstGeom>
        </p:spPr>
      </p:pic>
      <p:sp>
        <p:nvSpPr>
          <p:cNvPr id="33" name="TextBox 32"/>
          <p:cNvSpPr txBox="1"/>
          <p:nvPr/>
        </p:nvSpPr>
        <p:spPr>
          <a:xfrm>
            <a:off x="4861768" y="5132933"/>
            <a:ext cx="619125" cy="190500"/>
          </a:xfrm>
          <a:prstGeom prst="rect">
            <a:avLst/>
          </a:prstGeom>
          <a:noFill/>
        </p:spPr>
        <p:txBody>
          <a:bodyPr wrap="square" lIns="0" tIns="0" rIns="0" bIns="0" anchor="t">
            <a:spAutoFit/>
          </a:bodyPr>
          <a:lstStyle/>
          <a:p>
            <a:pPr algn="ctr"/>
            <a:r>
              <a:rPr sz="975" b="0" i="0" u="none">
                <a:solidFill>
                  <a:srgbClr val="190482"/>
                </a:solidFill>
                <a:latin typeface="Poppins SemiBold"/>
              </a:rPr>
              <a:t>SQLite DB</a:t>
            </a:r>
          </a:p>
        </p:txBody>
      </p:sp>
      <p:pic>
        <p:nvPicPr>
          <p:cNvPr id="34" name="Picture 33" descr="image.png"/>
          <p:cNvPicPr>
            <a:picLocks noChangeAspect="1"/>
          </p:cNvPicPr>
          <p:nvPr/>
        </p:nvPicPr>
        <p:blipFill>
          <a:blip r:embed="rId9"/>
          <a:stretch>
            <a:fillRect/>
          </a:stretch>
        </p:blipFill>
        <p:spPr>
          <a:xfrm>
            <a:off x="6043761" y="4904333"/>
            <a:ext cx="104775" cy="171450"/>
          </a:xfrm>
          <a:prstGeom prst="rect">
            <a:avLst/>
          </a:prstGeom>
        </p:spPr>
      </p:pic>
      <p:pic>
        <p:nvPicPr>
          <p:cNvPr id="35" name="Picture 34" descr="image.png"/>
          <p:cNvPicPr>
            <a:picLocks noChangeAspect="1"/>
          </p:cNvPicPr>
          <p:nvPr/>
        </p:nvPicPr>
        <p:blipFill>
          <a:blip r:embed="rId10"/>
          <a:stretch>
            <a:fillRect/>
          </a:stretch>
        </p:blipFill>
        <p:spPr>
          <a:xfrm>
            <a:off x="6811267" y="4637633"/>
            <a:ext cx="419100" cy="419100"/>
          </a:xfrm>
          <a:prstGeom prst="rect">
            <a:avLst/>
          </a:prstGeom>
        </p:spPr>
      </p:pic>
      <p:sp>
        <p:nvSpPr>
          <p:cNvPr id="36" name="TextBox 35"/>
          <p:cNvSpPr txBox="1"/>
          <p:nvPr/>
        </p:nvSpPr>
        <p:spPr>
          <a:xfrm>
            <a:off x="6258817" y="5132933"/>
            <a:ext cx="1524000" cy="190500"/>
          </a:xfrm>
          <a:prstGeom prst="rect">
            <a:avLst/>
          </a:prstGeom>
          <a:noFill/>
        </p:spPr>
        <p:txBody>
          <a:bodyPr wrap="square" lIns="0" tIns="0" rIns="0" bIns="0" anchor="t">
            <a:spAutoFit/>
          </a:bodyPr>
          <a:lstStyle/>
          <a:p>
            <a:pPr algn="ctr"/>
            <a:r>
              <a:rPr sz="975" b="0" i="0" u="none">
                <a:solidFill>
                  <a:srgbClr val="190482"/>
                </a:solidFill>
                <a:latin typeface="Poppins SemiBold"/>
              </a:rPr>
              <a:t>SQL &amp; Python Analytics</a:t>
            </a:r>
          </a:p>
        </p:txBody>
      </p:sp>
      <p:pic>
        <p:nvPicPr>
          <p:cNvPr id="37" name="Picture 36" descr="image.png"/>
          <p:cNvPicPr>
            <a:picLocks noChangeAspect="1"/>
          </p:cNvPicPr>
          <p:nvPr/>
        </p:nvPicPr>
        <p:blipFill>
          <a:blip r:embed="rId11"/>
          <a:stretch>
            <a:fillRect/>
          </a:stretch>
        </p:blipFill>
        <p:spPr>
          <a:xfrm>
            <a:off x="7893248" y="4904333"/>
            <a:ext cx="104775" cy="171450"/>
          </a:xfrm>
          <a:prstGeom prst="rect">
            <a:avLst/>
          </a:prstGeom>
        </p:spPr>
      </p:pic>
      <p:pic>
        <p:nvPicPr>
          <p:cNvPr id="38" name="Picture 37" descr="image.png"/>
          <p:cNvPicPr>
            <a:picLocks noChangeAspect="1"/>
          </p:cNvPicPr>
          <p:nvPr/>
        </p:nvPicPr>
        <p:blipFill>
          <a:blip r:embed="rId13"/>
          <a:stretch>
            <a:fillRect/>
          </a:stretch>
        </p:blipFill>
        <p:spPr>
          <a:xfrm>
            <a:off x="8660755" y="4637633"/>
            <a:ext cx="419100" cy="419100"/>
          </a:xfrm>
          <a:prstGeom prst="rect">
            <a:avLst/>
          </a:prstGeom>
        </p:spPr>
      </p:pic>
      <p:sp>
        <p:nvSpPr>
          <p:cNvPr id="39" name="TextBox 38"/>
          <p:cNvSpPr txBox="1"/>
          <p:nvPr/>
        </p:nvSpPr>
        <p:spPr>
          <a:xfrm>
            <a:off x="8203555" y="5132933"/>
            <a:ext cx="1333500" cy="190500"/>
          </a:xfrm>
          <a:prstGeom prst="rect">
            <a:avLst/>
          </a:prstGeom>
          <a:noFill/>
        </p:spPr>
        <p:txBody>
          <a:bodyPr wrap="square" lIns="0" tIns="0" rIns="0" bIns="0" anchor="t">
            <a:spAutoFit/>
          </a:bodyPr>
          <a:lstStyle/>
          <a:p>
            <a:pPr algn="ctr"/>
            <a:r>
              <a:rPr sz="975" b="0" i="0" u="none">
                <a:solidFill>
                  <a:srgbClr val="190482"/>
                </a:solidFill>
                <a:latin typeface="Poppins SemiBold"/>
              </a:rPr>
              <a:t>Power BI Dashboard</a:t>
            </a:r>
          </a:p>
        </p:txBody>
      </p:sp>
      <p:pic>
        <p:nvPicPr>
          <p:cNvPr id="40" name="Picture 39" descr="image.png"/>
          <p:cNvPicPr>
            <a:picLocks noChangeAspect="1"/>
          </p:cNvPicPr>
          <p:nvPr/>
        </p:nvPicPr>
        <p:blipFill>
          <a:blip r:embed="rId9"/>
          <a:stretch>
            <a:fillRect/>
          </a:stretch>
        </p:blipFill>
        <p:spPr>
          <a:xfrm>
            <a:off x="9742735" y="4904333"/>
            <a:ext cx="104775" cy="171450"/>
          </a:xfrm>
          <a:prstGeom prst="rect">
            <a:avLst/>
          </a:prstGeom>
        </p:spPr>
      </p:pic>
      <p:pic>
        <p:nvPicPr>
          <p:cNvPr id="41" name="Picture 40" descr="image.png"/>
          <p:cNvPicPr>
            <a:picLocks noChangeAspect="1"/>
          </p:cNvPicPr>
          <p:nvPr/>
        </p:nvPicPr>
        <p:blipFill>
          <a:blip r:embed="rId14"/>
          <a:stretch>
            <a:fillRect/>
          </a:stretch>
        </p:blipFill>
        <p:spPr>
          <a:xfrm>
            <a:off x="10510242" y="4637633"/>
            <a:ext cx="419100" cy="419100"/>
          </a:xfrm>
          <a:prstGeom prst="rect">
            <a:avLst/>
          </a:prstGeom>
        </p:spPr>
      </p:pic>
      <p:sp>
        <p:nvSpPr>
          <p:cNvPr id="42" name="TextBox 41"/>
          <p:cNvSpPr txBox="1"/>
          <p:nvPr/>
        </p:nvSpPr>
        <p:spPr>
          <a:xfrm>
            <a:off x="10062567" y="5132933"/>
            <a:ext cx="1314450" cy="190500"/>
          </a:xfrm>
          <a:prstGeom prst="rect">
            <a:avLst/>
          </a:prstGeom>
          <a:noFill/>
        </p:spPr>
        <p:txBody>
          <a:bodyPr wrap="square" lIns="0" tIns="0" rIns="0" bIns="0" anchor="t">
            <a:spAutoFit/>
          </a:bodyPr>
          <a:lstStyle/>
          <a:p>
            <a:pPr algn="ctr"/>
            <a:r>
              <a:rPr sz="975" b="0" i="0" u="none">
                <a:solidFill>
                  <a:srgbClr val="190482"/>
                </a:solidFill>
                <a:latin typeface="Poppins SemiBold"/>
              </a:rPr>
              <a:t>Investment Insights</a:t>
            </a:r>
          </a:p>
        </p:txBody>
      </p:sp>
      <p:pic>
        <p:nvPicPr>
          <p:cNvPr id="43" name="Picture 42" descr="image.png"/>
          <p:cNvPicPr>
            <a:picLocks noChangeAspect="1"/>
          </p:cNvPicPr>
          <p:nvPr/>
        </p:nvPicPr>
        <p:blipFill>
          <a:blip r:embed="rId15"/>
          <a:stretch>
            <a:fillRect/>
          </a:stretch>
        </p:blipFill>
        <p:spPr>
          <a:xfrm>
            <a:off x="1396156" y="4761458"/>
            <a:ext cx="152400" cy="171450"/>
          </a:xfrm>
          <a:prstGeom prst="rect">
            <a:avLst/>
          </a:prstGeom>
        </p:spPr>
      </p:pic>
      <p:pic>
        <p:nvPicPr>
          <p:cNvPr id="44" name="Picture 43" descr="image.png"/>
          <p:cNvPicPr>
            <a:picLocks noChangeAspect="1"/>
          </p:cNvPicPr>
          <p:nvPr/>
        </p:nvPicPr>
        <p:blipFill>
          <a:blip r:embed="rId16"/>
          <a:stretch>
            <a:fillRect/>
          </a:stretch>
        </p:blipFill>
        <p:spPr>
          <a:xfrm>
            <a:off x="3212306" y="4761458"/>
            <a:ext cx="219075" cy="171450"/>
          </a:xfrm>
          <a:prstGeom prst="rect">
            <a:avLst/>
          </a:prstGeom>
        </p:spPr>
      </p:pic>
      <p:pic>
        <p:nvPicPr>
          <p:cNvPr id="45" name="Picture 44" descr="image.png"/>
          <p:cNvPicPr>
            <a:picLocks noChangeAspect="1"/>
          </p:cNvPicPr>
          <p:nvPr/>
        </p:nvPicPr>
        <p:blipFill>
          <a:blip r:embed="rId17"/>
          <a:stretch>
            <a:fillRect/>
          </a:stretch>
        </p:blipFill>
        <p:spPr>
          <a:xfrm>
            <a:off x="5085605" y="4761458"/>
            <a:ext cx="171450" cy="171450"/>
          </a:xfrm>
          <a:prstGeom prst="rect">
            <a:avLst/>
          </a:prstGeom>
        </p:spPr>
      </p:pic>
      <p:pic>
        <p:nvPicPr>
          <p:cNvPr id="46" name="Picture 45" descr="image.png"/>
          <p:cNvPicPr>
            <a:picLocks noChangeAspect="1"/>
          </p:cNvPicPr>
          <p:nvPr/>
        </p:nvPicPr>
        <p:blipFill>
          <a:blip r:embed="rId18"/>
          <a:stretch>
            <a:fillRect/>
          </a:stretch>
        </p:blipFill>
        <p:spPr>
          <a:xfrm>
            <a:off x="6954142" y="4761458"/>
            <a:ext cx="133350" cy="171450"/>
          </a:xfrm>
          <a:prstGeom prst="rect">
            <a:avLst/>
          </a:prstGeom>
        </p:spPr>
      </p:pic>
      <p:pic>
        <p:nvPicPr>
          <p:cNvPr id="47" name="Picture 46" descr="image.png"/>
          <p:cNvPicPr>
            <a:picLocks noChangeAspect="1"/>
          </p:cNvPicPr>
          <p:nvPr/>
        </p:nvPicPr>
        <p:blipFill>
          <a:blip r:embed="rId19"/>
          <a:stretch>
            <a:fillRect/>
          </a:stretch>
        </p:blipFill>
        <p:spPr>
          <a:xfrm>
            <a:off x="8784580" y="4761458"/>
            <a:ext cx="171450" cy="171450"/>
          </a:xfrm>
          <a:prstGeom prst="rect">
            <a:avLst/>
          </a:prstGeom>
        </p:spPr>
      </p:pic>
      <p:pic>
        <p:nvPicPr>
          <p:cNvPr id="48" name="Picture 47" descr="image.png"/>
          <p:cNvPicPr>
            <a:picLocks noChangeAspect="1"/>
          </p:cNvPicPr>
          <p:nvPr/>
        </p:nvPicPr>
        <p:blipFill>
          <a:blip r:embed="rId20"/>
          <a:stretch>
            <a:fillRect/>
          </a:stretch>
        </p:blipFill>
        <p:spPr>
          <a:xfrm>
            <a:off x="10653117" y="4761458"/>
            <a:ext cx="133350" cy="171450"/>
          </a:xfrm>
          <a:prstGeom prst="rect">
            <a:avLst/>
          </a:prstGeom>
        </p:spPr>
      </p:pic>
      <p:sp>
        <p:nvSpPr>
          <p:cNvPr id="49" name="TextBox 48"/>
          <p:cNvSpPr txBox="1"/>
          <p:nvPr/>
        </p:nvSpPr>
        <p:spPr>
          <a:xfrm>
            <a:off x="476250" y="419100"/>
            <a:ext cx="7521773" cy="365670"/>
          </a:xfrm>
          <a:prstGeom prst="rect">
            <a:avLst/>
          </a:prstGeom>
          <a:noFill/>
        </p:spPr>
        <p:txBody>
          <a:bodyPr wrap="square" lIns="0" tIns="0" rIns="0" bIns="0" anchor="ctr">
            <a:spAutoFit/>
          </a:bodyPr>
          <a:lstStyle/>
          <a:p>
            <a:pPr algn="l">
              <a:lnSpc>
                <a:spcPts val="2879"/>
              </a:lnSpc>
            </a:pPr>
            <a:r>
              <a:rPr sz="2400" b="1" i="0" u="none">
                <a:solidFill>
                  <a:srgbClr val="190482"/>
                </a:solidFill>
                <a:latin typeface="Mongolian Baiti" panose="03000500000000000000" pitchFamily="66" charset="0"/>
                <a:cs typeface="Mongolian Baiti" panose="03000500000000000000" pitchFamily="66" charset="0"/>
              </a:rPr>
              <a:t>Problem Statement &amp; Strategic Objective</a:t>
            </a:r>
          </a:p>
        </p:txBody>
      </p:sp>
      <p:sp>
        <p:nvSpPr>
          <p:cNvPr id="50" name="Rounded Rectangle 49"/>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4556CB19-7A9C-D57C-BD52-A90FEFAC6D76}"/>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58" name="Picture 57">
            <a:extLst>
              <a:ext uri="{FF2B5EF4-FFF2-40B4-BE49-F238E27FC236}">
                <a16:creationId xmlns:a16="http://schemas.microsoft.com/office/drawing/2014/main" id="{3DDCD533-8B1E-EE06-0668-E214D7E2B4E8}"/>
              </a:ext>
            </a:extLst>
          </p:cNvPr>
          <p:cNvPicPr>
            <a:picLocks noChangeAspect="1"/>
          </p:cNvPicPr>
          <p:nvPr/>
        </p:nvPicPr>
        <p:blipFill>
          <a:blip r:embed="rId21">
            <a:extLst>
              <a:ext uri="{BEBA8EAE-BF5A-486C-A8C5-ECC9F3942E4B}">
                <a14:imgProps xmlns:a14="http://schemas.microsoft.com/office/drawing/2010/main">
                  <a14:imgLayer r:embed="rId22">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2681287" cy="883890"/>
          </a:xfrm>
          <a:prstGeom prst="rect">
            <a:avLst/>
          </a:prstGeom>
        </p:spPr>
      </p:pic>
      <p:pic>
        <p:nvPicPr>
          <p:cNvPr id="4" name="Picture 3" descr="image.png"/>
          <p:cNvPicPr>
            <a:picLocks noChangeAspect="1"/>
          </p:cNvPicPr>
          <p:nvPr/>
        </p:nvPicPr>
        <p:blipFill>
          <a:blip r:embed="rId4"/>
          <a:stretch>
            <a:fillRect/>
          </a:stretch>
        </p:blipFill>
        <p:spPr>
          <a:xfrm>
            <a:off x="3328987" y="1013370"/>
            <a:ext cx="2681287" cy="883890"/>
          </a:xfrm>
          <a:prstGeom prst="rect">
            <a:avLst/>
          </a:prstGeom>
        </p:spPr>
      </p:pic>
      <p:pic>
        <p:nvPicPr>
          <p:cNvPr id="5" name="Picture 4" descr="image.png"/>
          <p:cNvPicPr>
            <a:picLocks noChangeAspect="1"/>
          </p:cNvPicPr>
          <p:nvPr/>
        </p:nvPicPr>
        <p:blipFill>
          <a:blip r:embed="rId5"/>
          <a:stretch>
            <a:fillRect/>
          </a:stretch>
        </p:blipFill>
        <p:spPr>
          <a:xfrm>
            <a:off x="6181725" y="1013370"/>
            <a:ext cx="2681287" cy="883890"/>
          </a:xfrm>
          <a:prstGeom prst="rect">
            <a:avLst/>
          </a:prstGeom>
        </p:spPr>
      </p:pic>
      <p:pic>
        <p:nvPicPr>
          <p:cNvPr id="6" name="Picture 5" descr="image.png"/>
          <p:cNvPicPr>
            <a:picLocks noChangeAspect="1"/>
          </p:cNvPicPr>
          <p:nvPr/>
        </p:nvPicPr>
        <p:blipFill>
          <a:blip r:embed="rId6"/>
          <a:stretch>
            <a:fillRect/>
          </a:stretch>
        </p:blipFill>
        <p:spPr>
          <a:xfrm>
            <a:off x="9034462" y="1013370"/>
            <a:ext cx="2681287" cy="883890"/>
          </a:xfrm>
          <a:prstGeom prst="rect">
            <a:avLst/>
          </a:prstGeom>
        </p:spPr>
      </p:pic>
      <p:pic>
        <p:nvPicPr>
          <p:cNvPr id="7" name="Picture 6" descr="image.png"/>
          <p:cNvPicPr>
            <a:picLocks noChangeAspect="1"/>
          </p:cNvPicPr>
          <p:nvPr/>
        </p:nvPicPr>
        <p:blipFill>
          <a:blip r:embed="rId7"/>
          <a:stretch>
            <a:fillRect/>
          </a:stretch>
        </p:blipFill>
        <p:spPr>
          <a:xfrm>
            <a:off x="476250" y="2125860"/>
            <a:ext cx="5505450" cy="2105025"/>
          </a:xfrm>
          <a:prstGeom prst="rect">
            <a:avLst/>
          </a:prstGeom>
        </p:spPr>
      </p:pic>
      <p:pic>
        <p:nvPicPr>
          <p:cNvPr id="8" name="Picture 7" descr="image.png"/>
          <p:cNvPicPr>
            <a:picLocks noChangeAspect="1"/>
          </p:cNvPicPr>
          <p:nvPr/>
        </p:nvPicPr>
        <p:blipFill>
          <a:blip r:embed="rId8"/>
          <a:stretch>
            <a:fillRect/>
          </a:stretch>
        </p:blipFill>
        <p:spPr>
          <a:xfrm>
            <a:off x="6210300" y="2125860"/>
            <a:ext cx="5505450" cy="2105025"/>
          </a:xfrm>
          <a:prstGeom prst="rect">
            <a:avLst/>
          </a:prstGeom>
        </p:spPr>
      </p:pic>
      <p:pic>
        <p:nvPicPr>
          <p:cNvPr id="9" name="Picture 8" descr="image.png"/>
          <p:cNvPicPr>
            <a:picLocks noChangeAspect="1"/>
          </p:cNvPicPr>
          <p:nvPr/>
        </p:nvPicPr>
        <p:blipFill>
          <a:blip r:embed="rId9"/>
          <a:stretch>
            <a:fillRect/>
          </a:stretch>
        </p:blipFill>
        <p:spPr>
          <a:xfrm>
            <a:off x="7248525" y="495300"/>
            <a:ext cx="1828800" cy="213270"/>
          </a:xfrm>
          <a:prstGeom prst="rect">
            <a:avLst/>
          </a:prstGeom>
        </p:spPr>
      </p:pic>
      <p:sp>
        <p:nvSpPr>
          <p:cNvPr id="10" name="TextBox 9"/>
          <p:cNvSpPr txBox="1"/>
          <p:nvPr/>
        </p:nvSpPr>
        <p:spPr>
          <a:xfrm>
            <a:off x="695325"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MUTUAL FUND SCHEMES</a:t>
            </a:r>
          </a:p>
        </p:txBody>
      </p:sp>
      <p:sp>
        <p:nvSpPr>
          <p:cNvPr id="11" name="TextBox 10"/>
          <p:cNvSpPr txBox="1"/>
          <p:nvPr/>
        </p:nvSpPr>
        <p:spPr>
          <a:xfrm>
            <a:off x="695325"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40</a:t>
            </a:r>
          </a:p>
        </p:txBody>
      </p:sp>
      <p:sp>
        <p:nvSpPr>
          <p:cNvPr id="12" name="TextBox 11"/>
          <p:cNvSpPr txBox="1"/>
          <p:nvPr/>
        </p:nvSpPr>
        <p:spPr>
          <a:xfrm>
            <a:off x="3548062"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FUND HOUSES (AMCS)</a:t>
            </a:r>
          </a:p>
        </p:txBody>
      </p:sp>
      <p:sp>
        <p:nvSpPr>
          <p:cNvPr id="13" name="TextBox 12"/>
          <p:cNvSpPr txBox="1"/>
          <p:nvPr/>
        </p:nvSpPr>
        <p:spPr>
          <a:xfrm>
            <a:off x="3548062"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10</a:t>
            </a:r>
          </a:p>
        </p:txBody>
      </p:sp>
      <p:sp>
        <p:nvSpPr>
          <p:cNvPr id="14" name="TextBox 13"/>
          <p:cNvSpPr txBox="1"/>
          <p:nvPr/>
        </p:nvSpPr>
        <p:spPr>
          <a:xfrm>
            <a:off x="6400800"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NAV HISTORY RECORDS</a:t>
            </a:r>
          </a:p>
        </p:txBody>
      </p:sp>
      <p:sp>
        <p:nvSpPr>
          <p:cNvPr id="15" name="TextBox 14"/>
          <p:cNvSpPr txBox="1"/>
          <p:nvPr/>
        </p:nvSpPr>
        <p:spPr>
          <a:xfrm>
            <a:off x="6400800"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64,320</a:t>
            </a:r>
          </a:p>
        </p:txBody>
      </p:sp>
      <p:sp>
        <p:nvSpPr>
          <p:cNvPr id="16" name="TextBox 15"/>
          <p:cNvSpPr txBox="1"/>
          <p:nvPr/>
        </p:nvSpPr>
        <p:spPr>
          <a:xfrm>
            <a:off x="9253537"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INVESTOR TRANSACTIONS</a:t>
            </a:r>
          </a:p>
        </p:txBody>
      </p:sp>
      <p:sp>
        <p:nvSpPr>
          <p:cNvPr id="17" name="TextBox 16"/>
          <p:cNvSpPr txBox="1"/>
          <p:nvPr/>
        </p:nvSpPr>
        <p:spPr>
          <a:xfrm>
            <a:off x="9253537"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32,778</a:t>
            </a:r>
          </a:p>
        </p:txBody>
      </p:sp>
      <p:sp>
        <p:nvSpPr>
          <p:cNvPr id="18" name="TextBox 17"/>
          <p:cNvSpPr txBox="1"/>
          <p:nvPr/>
        </p:nvSpPr>
        <p:spPr>
          <a:xfrm>
            <a:off x="990600" y="2325885"/>
            <a:ext cx="4791075" cy="257175"/>
          </a:xfrm>
          <a:prstGeom prst="rect">
            <a:avLst/>
          </a:prstGeom>
          <a:noFill/>
        </p:spPr>
        <p:txBody>
          <a:bodyPr wrap="square" lIns="0" tIns="0" rIns="0" bIns="0" anchor="ctr">
            <a:spAutoFit/>
          </a:bodyPr>
          <a:lstStyle/>
          <a:p>
            <a:pPr algn="l"/>
            <a:r>
              <a:rPr sz="1350" b="0" i="0" u="none">
                <a:solidFill>
                  <a:srgbClr val="190482"/>
                </a:solidFill>
                <a:latin typeface="Poppins SemiBold"/>
              </a:rPr>
              <a:t>Primary Data Sources</a:t>
            </a:r>
          </a:p>
        </p:txBody>
      </p:sp>
      <p:sp>
        <p:nvSpPr>
          <p:cNvPr id="19" name="TextBox 18"/>
          <p:cNvSpPr txBox="1"/>
          <p:nvPr/>
        </p:nvSpPr>
        <p:spPr>
          <a:xfrm>
            <a:off x="6677025" y="2325885"/>
            <a:ext cx="4838700" cy="257175"/>
          </a:xfrm>
          <a:prstGeom prst="rect">
            <a:avLst/>
          </a:prstGeom>
          <a:noFill/>
        </p:spPr>
        <p:txBody>
          <a:bodyPr wrap="square" lIns="0" tIns="0" rIns="0" bIns="0" anchor="ctr">
            <a:spAutoFit/>
          </a:bodyPr>
          <a:lstStyle/>
          <a:p>
            <a:pPr algn="l"/>
            <a:r>
              <a:rPr sz="1350" b="0" i="0" u="none">
                <a:solidFill>
                  <a:srgbClr val="190482"/>
                </a:solidFill>
                <a:latin typeface="Poppins SemiBold"/>
              </a:rPr>
              <a:t>Integrated Datasets (11 Tables)</a:t>
            </a:r>
          </a:p>
        </p:txBody>
      </p:sp>
      <p:pic>
        <p:nvPicPr>
          <p:cNvPr id="20" name="Picture 19" descr="image.png"/>
          <p:cNvPicPr>
            <a:picLocks noChangeAspect="1"/>
          </p:cNvPicPr>
          <p:nvPr/>
        </p:nvPicPr>
        <p:blipFill>
          <a:blip r:embed="rId10"/>
          <a:stretch>
            <a:fillRect/>
          </a:stretch>
        </p:blipFill>
        <p:spPr>
          <a:xfrm>
            <a:off x="676275" y="2368748"/>
            <a:ext cx="219075" cy="171450"/>
          </a:xfrm>
          <a:prstGeom prst="rect">
            <a:avLst/>
          </a:prstGeom>
        </p:spPr>
      </p:pic>
      <p:pic>
        <p:nvPicPr>
          <p:cNvPr id="21" name="Picture 20" descr="image.png"/>
          <p:cNvPicPr>
            <a:picLocks noChangeAspect="1"/>
          </p:cNvPicPr>
          <p:nvPr/>
        </p:nvPicPr>
        <p:blipFill>
          <a:blip r:embed="rId11"/>
          <a:stretch>
            <a:fillRect/>
          </a:stretch>
        </p:blipFill>
        <p:spPr>
          <a:xfrm>
            <a:off x="6410325" y="2368748"/>
            <a:ext cx="171450" cy="171450"/>
          </a:xfrm>
          <a:prstGeom prst="rect">
            <a:avLst/>
          </a:prstGeom>
        </p:spPr>
      </p:pic>
      <p:sp>
        <p:nvSpPr>
          <p:cNvPr id="22" name="TextBox 21"/>
          <p:cNvSpPr txBox="1"/>
          <p:nvPr/>
        </p:nvSpPr>
        <p:spPr>
          <a:xfrm>
            <a:off x="6410325" y="2678310"/>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Fund Master</a:t>
            </a:r>
          </a:p>
        </p:txBody>
      </p:sp>
      <p:sp>
        <p:nvSpPr>
          <p:cNvPr id="23" name="TextBox 22"/>
          <p:cNvSpPr txBox="1"/>
          <p:nvPr/>
        </p:nvSpPr>
        <p:spPr>
          <a:xfrm>
            <a:off x="9001125" y="2678310"/>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Scheme Performance</a:t>
            </a:r>
          </a:p>
        </p:txBody>
      </p:sp>
      <p:sp>
        <p:nvSpPr>
          <p:cNvPr id="24" name="TextBox 23"/>
          <p:cNvSpPr txBox="1"/>
          <p:nvPr/>
        </p:nvSpPr>
        <p:spPr>
          <a:xfrm>
            <a:off x="6410325" y="2916435"/>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NAV History</a:t>
            </a:r>
          </a:p>
        </p:txBody>
      </p:sp>
      <p:sp>
        <p:nvSpPr>
          <p:cNvPr id="25" name="TextBox 24"/>
          <p:cNvSpPr txBox="1"/>
          <p:nvPr/>
        </p:nvSpPr>
        <p:spPr>
          <a:xfrm>
            <a:off x="9001125" y="2916435"/>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Investor Transactions</a:t>
            </a:r>
          </a:p>
        </p:txBody>
      </p:sp>
      <p:sp>
        <p:nvSpPr>
          <p:cNvPr id="26" name="TextBox 25"/>
          <p:cNvSpPr txBox="1"/>
          <p:nvPr/>
        </p:nvSpPr>
        <p:spPr>
          <a:xfrm>
            <a:off x="6410325" y="3154560"/>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Industry AUM</a:t>
            </a:r>
          </a:p>
        </p:txBody>
      </p:sp>
      <p:sp>
        <p:nvSpPr>
          <p:cNvPr id="27" name="TextBox 26"/>
          <p:cNvSpPr txBox="1"/>
          <p:nvPr/>
        </p:nvSpPr>
        <p:spPr>
          <a:xfrm>
            <a:off x="9001125" y="3154560"/>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Portfolio Holdings</a:t>
            </a:r>
          </a:p>
        </p:txBody>
      </p:sp>
      <p:sp>
        <p:nvSpPr>
          <p:cNvPr id="28" name="TextBox 27"/>
          <p:cNvSpPr txBox="1"/>
          <p:nvPr/>
        </p:nvSpPr>
        <p:spPr>
          <a:xfrm>
            <a:off x="6410325" y="3392685"/>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SIP Inflow Trends</a:t>
            </a:r>
          </a:p>
        </p:txBody>
      </p:sp>
      <p:sp>
        <p:nvSpPr>
          <p:cNvPr id="29" name="TextBox 28"/>
          <p:cNvSpPr txBox="1"/>
          <p:nvPr/>
        </p:nvSpPr>
        <p:spPr>
          <a:xfrm>
            <a:off x="9001125" y="3392685"/>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Benchmark Indices</a:t>
            </a:r>
          </a:p>
        </p:txBody>
      </p:sp>
      <p:sp>
        <p:nvSpPr>
          <p:cNvPr id="30" name="TextBox 29"/>
          <p:cNvSpPr txBox="1"/>
          <p:nvPr/>
        </p:nvSpPr>
        <p:spPr>
          <a:xfrm>
            <a:off x="6410325" y="3630810"/>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Category Inflows</a:t>
            </a:r>
          </a:p>
        </p:txBody>
      </p:sp>
      <p:sp>
        <p:nvSpPr>
          <p:cNvPr id="31" name="TextBox 30"/>
          <p:cNvSpPr txBox="1"/>
          <p:nvPr/>
        </p:nvSpPr>
        <p:spPr>
          <a:xfrm>
            <a:off x="9001125" y="3630810"/>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Live NAV Data</a:t>
            </a:r>
          </a:p>
        </p:txBody>
      </p:sp>
      <p:sp>
        <p:nvSpPr>
          <p:cNvPr id="32" name="TextBox 31"/>
          <p:cNvSpPr txBox="1"/>
          <p:nvPr/>
        </p:nvSpPr>
        <p:spPr>
          <a:xfrm>
            <a:off x="6410325" y="3868935"/>
            <a:ext cx="2514600" cy="161925"/>
          </a:xfrm>
          <a:prstGeom prst="rect">
            <a:avLst/>
          </a:prstGeom>
          <a:noFill/>
        </p:spPr>
        <p:txBody>
          <a:bodyPr wrap="square" lIns="104775" tIns="0" rIns="0" bIns="0" anchor="t">
            <a:spAutoFit/>
          </a:bodyPr>
          <a:lstStyle/>
          <a:p>
            <a:pPr algn="l"/>
            <a:r>
              <a:rPr sz="900" b="0" i="0" u="none">
                <a:solidFill>
                  <a:srgbClr val="334155"/>
                </a:solidFill>
                <a:latin typeface="Open Sans"/>
              </a:rPr>
              <a:t>Folio Count Statistics</a:t>
            </a:r>
          </a:p>
        </p:txBody>
      </p:sp>
      <p:pic>
        <p:nvPicPr>
          <p:cNvPr id="33" name="Picture 32" descr="image.png"/>
          <p:cNvPicPr>
            <a:picLocks noChangeAspect="1"/>
          </p:cNvPicPr>
          <p:nvPr/>
        </p:nvPicPr>
        <p:blipFill>
          <a:blip r:embed="rId12"/>
          <a:stretch>
            <a:fillRect/>
          </a:stretch>
        </p:blipFill>
        <p:spPr>
          <a:xfrm>
            <a:off x="676275" y="2706885"/>
            <a:ext cx="152400" cy="152400"/>
          </a:xfrm>
          <a:prstGeom prst="rect">
            <a:avLst/>
          </a:prstGeom>
        </p:spPr>
      </p:pic>
      <p:pic>
        <p:nvPicPr>
          <p:cNvPr id="34" name="Picture 33" descr="image.png"/>
          <p:cNvPicPr>
            <a:picLocks noChangeAspect="1"/>
          </p:cNvPicPr>
          <p:nvPr/>
        </p:nvPicPr>
        <p:blipFill>
          <a:blip r:embed="rId13"/>
          <a:stretch>
            <a:fillRect/>
          </a:stretch>
        </p:blipFill>
        <p:spPr>
          <a:xfrm>
            <a:off x="676275" y="3373635"/>
            <a:ext cx="152400" cy="152400"/>
          </a:xfrm>
          <a:prstGeom prst="rect">
            <a:avLst/>
          </a:prstGeom>
        </p:spPr>
      </p:pic>
      <p:pic>
        <p:nvPicPr>
          <p:cNvPr id="35" name="Picture 34" descr="image.png"/>
          <p:cNvPicPr>
            <a:picLocks noChangeAspect="1"/>
          </p:cNvPicPr>
          <p:nvPr/>
        </p:nvPicPr>
        <p:blipFill>
          <a:blip r:embed="rId14"/>
          <a:stretch>
            <a:fillRect/>
          </a:stretch>
        </p:blipFill>
        <p:spPr>
          <a:xfrm>
            <a:off x="6410325" y="2706885"/>
            <a:ext cx="104775" cy="114300"/>
          </a:xfrm>
          <a:prstGeom prst="rect">
            <a:avLst/>
          </a:prstGeom>
        </p:spPr>
      </p:pic>
      <p:pic>
        <p:nvPicPr>
          <p:cNvPr id="36" name="Picture 35" descr="image.png"/>
          <p:cNvPicPr>
            <a:picLocks noChangeAspect="1"/>
          </p:cNvPicPr>
          <p:nvPr/>
        </p:nvPicPr>
        <p:blipFill>
          <a:blip r:embed="rId14"/>
          <a:stretch>
            <a:fillRect/>
          </a:stretch>
        </p:blipFill>
        <p:spPr>
          <a:xfrm>
            <a:off x="9001125" y="2706885"/>
            <a:ext cx="104775" cy="114300"/>
          </a:xfrm>
          <a:prstGeom prst="rect">
            <a:avLst/>
          </a:prstGeom>
        </p:spPr>
      </p:pic>
      <p:pic>
        <p:nvPicPr>
          <p:cNvPr id="37" name="Picture 36" descr="image.png"/>
          <p:cNvPicPr>
            <a:picLocks noChangeAspect="1"/>
          </p:cNvPicPr>
          <p:nvPr/>
        </p:nvPicPr>
        <p:blipFill>
          <a:blip r:embed="rId14"/>
          <a:stretch>
            <a:fillRect/>
          </a:stretch>
        </p:blipFill>
        <p:spPr>
          <a:xfrm>
            <a:off x="6410325" y="2945010"/>
            <a:ext cx="104775" cy="114300"/>
          </a:xfrm>
          <a:prstGeom prst="rect">
            <a:avLst/>
          </a:prstGeom>
        </p:spPr>
      </p:pic>
      <p:pic>
        <p:nvPicPr>
          <p:cNvPr id="38" name="Picture 37" descr="image.png"/>
          <p:cNvPicPr>
            <a:picLocks noChangeAspect="1"/>
          </p:cNvPicPr>
          <p:nvPr/>
        </p:nvPicPr>
        <p:blipFill>
          <a:blip r:embed="rId14"/>
          <a:stretch>
            <a:fillRect/>
          </a:stretch>
        </p:blipFill>
        <p:spPr>
          <a:xfrm>
            <a:off x="9001125" y="2945010"/>
            <a:ext cx="104775" cy="114300"/>
          </a:xfrm>
          <a:prstGeom prst="rect">
            <a:avLst/>
          </a:prstGeom>
        </p:spPr>
      </p:pic>
      <p:pic>
        <p:nvPicPr>
          <p:cNvPr id="39" name="Picture 38" descr="image.png"/>
          <p:cNvPicPr>
            <a:picLocks noChangeAspect="1"/>
          </p:cNvPicPr>
          <p:nvPr/>
        </p:nvPicPr>
        <p:blipFill>
          <a:blip r:embed="rId14"/>
          <a:stretch>
            <a:fillRect/>
          </a:stretch>
        </p:blipFill>
        <p:spPr>
          <a:xfrm>
            <a:off x="6410325" y="3183135"/>
            <a:ext cx="104775" cy="114300"/>
          </a:xfrm>
          <a:prstGeom prst="rect">
            <a:avLst/>
          </a:prstGeom>
        </p:spPr>
      </p:pic>
      <p:pic>
        <p:nvPicPr>
          <p:cNvPr id="40" name="Picture 39" descr="image.png"/>
          <p:cNvPicPr>
            <a:picLocks noChangeAspect="1"/>
          </p:cNvPicPr>
          <p:nvPr/>
        </p:nvPicPr>
        <p:blipFill>
          <a:blip r:embed="rId14"/>
          <a:stretch>
            <a:fillRect/>
          </a:stretch>
        </p:blipFill>
        <p:spPr>
          <a:xfrm>
            <a:off x="9001125" y="3183135"/>
            <a:ext cx="104775" cy="114300"/>
          </a:xfrm>
          <a:prstGeom prst="rect">
            <a:avLst/>
          </a:prstGeom>
        </p:spPr>
      </p:pic>
      <p:pic>
        <p:nvPicPr>
          <p:cNvPr id="41" name="Picture 40" descr="image.png"/>
          <p:cNvPicPr>
            <a:picLocks noChangeAspect="1"/>
          </p:cNvPicPr>
          <p:nvPr/>
        </p:nvPicPr>
        <p:blipFill>
          <a:blip r:embed="rId14"/>
          <a:stretch>
            <a:fillRect/>
          </a:stretch>
        </p:blipFill>
        <p:spPr>
          <a:xfrm>
            <a:off x="6410325" y="3421260"/>
            <a:ext cx="104775" cy="114300"/>
          </a:xfrm>
          <a:prstGeom prst="rect">
            <a:avLst/>
          </a:prstGeom>
        </p:spPr>
      </p:pic>
      <p:pic>
        <p:nvPicPr>
          <p:cNvPr id="42" name="Picture 41" descr="image.png"/>
          <p:cNvPicPr>
            <a:picLocks noChangeAspect="1"/>
          </p:cNvPicPr>
          <p:nvPr/>
        </p:nvPicPr>
        <p:blipFill>
          <a:blip r:embed="rId14"/>
          <a:stretch>
            <a:fillRect/>
          </a:stretch>
        </p:blipFill>
        <p:spPr>
          <a:xfrm>
            <a:off x="9001125" y="3421260"/>
            <a:ext cx="104775" cy="114300"/>
          </a:xfrm>
          <a:prstGeom prst="rect">
            <a:avLst/>
          </a:prstGeom>
        </p:spPr>
      </p:pic>
      <p:pic>
        <p:nvPicPr>
          <p:cNvPr id="43" name="Picture 42" descr="image.png"/>
          <p:cNvPicPr>
            <a:picLocks noChangeAspect="1"/>
          </p:cNvPicPr>
          <p:nvPr/>
        </p:nvPicPr>
        <p:blipFill>
          <a:blip r:embed="rId14"/>
          <a:stretch>
            <a:fillRect/>
          </a:stretch>
        </p:blipFill>
        <p:spPr>
          <a:xfrm>
            <a:off x="6410325" y="3659385"/>
            <a:ext cx="104775" cy="114300"/>
          </a:xfrm>
          <a:prstGeom prst="rect">
            <a:avLst/>
          </a:prstGeom>
        </p:spPr>
      </p:pic>
      <p:pic>
        <p:nvPicPr>
          <p:cNvPr id="44" name="Picture 43" descr="image.png"/>
          <p:cNvPicPr>
            <a:picLocks noChangeAspect="1"/>
          </p:cNvPicPr>
          <p:nvPr/>
        </p:nvPicPr>
        <p:blipFill>
          <a:blip r:embed="rId14"/>
          <a:stretch>
            <a:fillRect/>
          </a:stretch>
        </p:blipFill>
        <p:spPr>
          <a:xfrm>
            <a:off x="9001125" y="3659385"/>
            <a:ext cx="104775" cy="114300"/>
          </a:xfrm>
          <a:prstGeom prst="rect">
            <a:avLst/>
          </a:prstGeom>
        </p:spPr>
      </p:pic>
      <p:pic>
        <p:nvPicPr>
          <p:cNvPr id="45" name="Picture 44" descr="image.png"/>
          <p:cNvPicPr>
            <a:picLocks noChangeAspect="1"/>
          </p:cNvPicPr>
          <p:nvPr/>
        </p:nvPicPr>
        <p:blipFill>
          <a:blip r:embed="rId14"/>
          <a:stretch>
            <a:fillRect/>
          </a:stretch>
        </p:blipFill>
        <p:spPr>
          <a:xfrm>
            <a:off x="6410325" y="3897510"/>
            <a:ext cx="104775" cy="114300"/>
          </a:xfrm>
          <a:prstGeom prst="rect">
            <a:avLst/>
          </a:prstGeom>
        </p:spPr>
      </p:pic>
      <p:sp>
        <p:nvSpPr>
          <p:cNvPr id="46" name="TextBox 45"/>
          <p:cNvSpPr txBox="1"/>
          <p:nvPr/>
        </p:nvSpPr>
        <p:spPr>
          <a:xfrm>
            <a:off x="942975" y="2697360"/>
            <a:ext cx="1943100" cy="180975"/>
          </a:xfrm>
          <a:prstGeom prst="rect">
            <a:avLst/>
          </a:prstGeom>
          <a:noFill/>
        </p:spPr>
        <p:txBody>
          <a:bodyPr wrap="square" lIns="0" tIns="0" rIns="0" bIns="0" anchor="t">
            <a:spAutoFit/>
          </a:bodyPr>
          <a:lstStyle/>
          <a:p>
            <a:pPr algn="l"/>
            <a:r>
              <a:rPr sz="1050" b="1" i="0" u="none">
                <a:solidFill>
                  <a:srgbClr val="190482"/>
                </a:solidFill>
                <a:latin typeface="Open Sans"/>
              </a:rPr>
              <a:t>AMFI India &amp; MFAPI REST API</a:t>
            </a:r>
          </a:p>
        </p:txBody>
      </p:sp>
      <p:sp>
        <p:nvSpPr>
          <p:cNvPr id="47" name="TextBox 46"/>
          <p:cNvSpPr txBox="1"/>
          <p:nvPr/>
        </p:nvSpPr>
        <p:spPr>
          <a:xfrm>
            <a:off x="942975" y="2887860"/>
            <a:ext cx="4838700" cy="342900"/>
          </a:xfrm>
          <a:prstGeom prst="rect">
            <a:avLst/>
          </a:prstGeom>
          <a:noFill/>
        </p:spPr>
        <p:txBody>
          <a:bodyPr wrap="square" lIns="0" tIns="0" rIns="0" bIns="0" anchor="t">
            <a:spAutoFit/>
          </a:bodyPr>
          <a:lstStyle/>
          <a:p>
            <a:pPr algn="l">
              <a:lnSpc>
                <a:spcPts val="1350"/>
              </a:lnSpc>
            </a:pPr>
            <a:r>
              <a:rPr sz="900" b="0" i="0" u="none">
                <a:solidFill>
                  <a:srgbClr val="475569"/>
                </a:solidFill>
                <a:latin typeface="Open Sans"/>
              </a:rPr>
              <a:t>Automated extraction of historical daily NAVs (2022–2026), scheme classifications, and live NAV feeds.</a:t>
            </a:r>
          </a:p>
        </p:txBody>
      </p:sp>
      <p:sp>
        <p:nvSpPr>
          <p:cNvPr id="48" name="TextBox 47"/>
          <p:cNvSpPr txBox="1"/>
          <p:nvPr/>
        </p:nvSpPr>
        <p:spPr>
          <a:xfrm>
            <a:off x="942975" y="3364110"/>
            <a:ext cx="1924050" cy="180975"/>
          </a:xfrm>
          <a:prstGeom prst="rect">
            <a:avLst/>
          </a:prstGeom>
          <a:noFill/>
        </p:spPr>
        <p:txBody>
          <a:bodyPr wrap="square" lIns="0" tIns="0" rIns="0" bIns="0" anchor="t">
            <a:spAutoFit/>
          </a:bodyPr>
          <a:lstStyle/>
          <a:p>
            <a:pPr algn="l"/>
            <a:r>
              <a:rPr sz="1050" b="1" i="0" u="none">
                <a:solidFill>
                  <a:srgbClr val="190482"/>
                </a:solidFill>
                <a:latin typeface="Open Sans"/>
              </a:rPr>
              <a:t>NSE / BSE Benchmark Indices</a:t>
            </a:r>
          </a:p>
        </p:txBody>
      </p:sp>
      <p:sp>
        <p:nvSpPr>
          <p:cNvPr id="49" name="TextBox 48"/>
          <p:cNvSpPr txBox="1"/>
          <p:nvPr/>
        </p:nvSpPr>
        <p:spPr>
          <a:xfrm>
            <a:off x="942975" y="3554610"/>
            <a:ext cx="4781550" cy="171450"/>
          </a:xfrm>
          <a:prstGeom prst="rect">
            <a:avLst/>
          </a:prstGeom>
          <a:noFill/>
        </p:spPr>
        <p:txBody>
          <a:bodyPr wrap="square" lIns="0" tIns="0" rIns="0" bIns="0" anchor="t">
            <a:spAutoFit/>
          </a:bodyPr>
          <a:lstStyle/>
          <a:p>
            <a:pPr algn="l">
              <a:lnSpc>
                <a:spcPts val="1350"/>
              </a:lnSpc>
            </a:pPr>
            <a:r>
              <a:rPr sz="900" b="0" i="0" u="none">
                <a:solidFill>
                  <a:srgbClr val="475569"/>
                </a:solidFill>
                <a:latin typeface="Open Sans"/>
              </a:rPr>
              <a:t>NIFTY50 &amp; NIFTY100 daily price histories used for relative risk, Beta, and Alpha calculation.</a:t>
            </a:r>
          </a:p>
        </p:txBody>
      </p:sp>
      <p:sp>
        <p:nvSpPr>
          <p:cNvPr id="50" name="TextBox 49"/>
          <p:cNvSpPr txBox="1"/>
          <p:nvPr/>
        </p:nvSpPr>
        <p:spPr>
          <a:xfrm>
            <a:off x="476250" y="419100"/>
            <a:ext cx="8777287" cy="365670"/>
          </a:xfrm>
          <a:prstGeom prst="rect">
            <a:avLst/>
          </a:prstGeom>
          <a:noFill/>
        </p:spPr>
        <p:txBody>
          <a:bodyPr wrap="square" lIns="0" tIns="0" rIns="0" bIns="0" anchor="ctr">
            <a:spAutoFit/>
          </a:bodyPr>
          <a:lstStyle/>
          <a:p>
            <a:pPr algn="l">
              <a:lnSpc>
                <a:spcPts val="2879"/>
              </a:lnSpc>
            </a:pPr>
            <a:r>
              <a:rPr sz="2400" b="1" i="0" u="none" dirty="0">
                <a:solidFill>
                  <a:srgbClr val="190482"/>
                </a:solidFill>
                <a:latin typeface="Mongolian Baiti" panose="03000500000000000000" pitchFamily="66" charset="0"/>
                <a:cs typeface="Mongolian Baiti" panose="03000500000000000000" pitchFamily="66" charset="0"/>
              </a:rPr>
              <a:t>Data Sources &amp; Scope Coverage</a:t>
            </a:r>
          </a:p>
        </p:txBody>
      </p:sp>
      <p:sp>
        <p:nvSpPr>
          <p:cNvPr id="51" name="Rounded Rectangle 50"/>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E91D33FB-D29B-046B-6B51-49C61E9E7988}"/>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57" name="Picture 56">
            <a:extLst>
              <a:ext uri="{FF2B5EF4-FFF2-40B4-BE49-F238E27FC236}">
                <a16:creationId xmlns:a16="http://schemas.microsoft.com/office/drawing/2014/main" id="{A4EEA674-6CF3-CA19-FE3E-0567EDA2D94B}"/>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403895"/>
            <a:ext cx="1793825" cy="1081980"/>
          </a:xfrm>
          <a:prstGeom prst="rect">
            <a:avLst/>
          </a:prstGeom>
        </p:spPr>
      </p:pic>
      <p:pic>
        <p:nvPicPr>
          <p:cNvPr id="4" name="Picture 3" descr="image.png"/>
          <p:cNvPicPr>
            <a:picLocks noChangeAspect="1"/>
          </p:cNvPicPr>
          <p:nvPr/>
        </p:nvPicPr>
        <p:blipFill>
          <a:blip r:embed="rId4"/>
          <a:stretch>
            <a:fillRect/>
          </a:stretch>
        </p:blipFill>
        <p:spPr>
          <a:xfrm>
            <a:off x="2365325" y="1403895"/>
            <a:ext cx="1793825" cy="1081980"/>
          </a:xfrm>
          <a:prstGeom prst="rect">
            <a:avLst/>
          </a:prstGeom>
        </p:spPr>
      </p:pic>
      <p:pic>
        <p:nvPicPr>
          <p:cNvPr id="5" name="Picture 4" descr="image.png"/>
          <p:cNvPicPr>
            <a:picLocks noChangeAspect="1"/>
          </p:cNvPicPr>
          <p:nvPr/>
        </p:nvPicPr>
        <p:blipFill>
          <a:blip r:embed="rId5"/>
          <a:stretch>
            <a:fillRect/>
          </a:stretch>
        </p:blipFill>
        <p:spPr>
          <a:xfrm>
            <a:off x="4254400" y="1403895"/>
            <a:ext cx="1793825" cy="1081980"/>
          </a:xfrm>
          <a:prstGeom prst="rect">
            <a:avLst/>
          </a:prstGeom>
        </p:spPr>
      </p:pic>
      <p:pic>
        <p:nvPicPr>
          <p:cNvPr id="6" name="Picture 5" descr="image.png"/>
          <p:cNvPicPr>
            <a:picLocks noChangeAspect="1"/>
          </p:cNvPicPr>
          <p:nvPr/>
        </p:nvPicPr>
        <p:blipFill>
          <a:blip r:embed="rId6"/>
          <a:stretch>
            <a:fillRect/>
          </a:stretch>
        </p:blipFill>
        <p:spPr>
          <a:xfrm>
            <a:off x="6143476" y="1403895"/>
            <a:ext cx="1793974" cy="1081980"/>
          </a:xfrm>
          <a:prstGeom prst="rect">
            <a:avLst/>
          </a:prstGeom>
        </p:spPr>
      </p:pic>
      <p:pic>
        <p:nvPicPr>
          <p:cNvPr id="7" name="Picture 6" descr="image.png"/>
          <p:cNvPicPr>
            <a:picLocks noChangeAspect="1"/>
          </p:cNvPicPr>
          <p:nvPr/>
        </p:nvPicPr>
        <p:blipFill>
          <a:blip r:embed="rId7"/>
          <a:stretch>
            <a:fillRect/>
          </a:stretch>
        </p:blipFill>
        <p:spPr>
          <a:xfrm>
            <a:off x="8032700" y="1403895"/>
            <a:ext cx="1793825" cy="1081980"/>
          </a:xfrm>
          <a:prstGeom prst="rect">
            <a:avLst/>
          </a:prstGeom>
        </p:spPr>
      </p:pic>
      <p:pic>
        <p:nvPicPr>
          <p:cNvPr id="8" name="Picture 7" descr="image.png"/>
          <p:cNvPicPr>
            <a:picLocks noChangeAspect="1"/>
          </p:cNvPicPr>
          <p:nvPr/>
        </p:nvPicPr>
        <p:blipFill>
          <a:blip r:embed="rId8"/>
          <a:stretch>
            <a:fillRect/>
          </a:stretch>
        </p:blipFill>
        <p:spPr>
          <a:xfrm>
            <a:off x="9921775" y="1403895"/>
            <a:ext cx="1793825" cy="1081980"/>
          </a:xfrm>
          <a:prstGeom prst="rect">
            <a:avLst/>
          </a:prstGeom>
        </p:spPr>
      </p:pic>
      <p:pic>
        <p:nvPicPr>
          <p:cNvPr id="9" name="Picture 8" descr="image.png"/>
          <p:cNvPicPr>
            <a:picLocks noChangeAspect="1"/>
          </p:cNvPicPr>
          <p:nvPr/>
        </p:nvPicPr>
        <p:blipFill>
          <a:blip r:embed="rId9"/>
          <a:stretch>
            <a:fillRect/>
          </a:stretch>
        </p:blipFill>
        <p:spPr>
          <a:xfrm>
            <a:off x="476250" y="2714476"/>
            <a:ext cx="5505450" cy="2181225"/>
          </a:xfrm>
          <a:prstGeom prst="rect">
            <a:avLst/>
          </a:prstGeom>
        </p:spPr>
      </p:pic>
      <p:pic>
        <p:nvPicPr>
          <p:cNvPr id="10" name="Picture 9" descr="image.png"/>
          <p:cNvPicPr>
            <a:picLocks noChangeAspect="1"/>
          </p:cNvPicPr>
          <p:nvPr/>
        </p:nvPicPr>
        <p:blipFill>
          <a:blip r:embed="rId10"/>
          <a:stretch>
            <a:fillRect/>
          </a:stretch>
        </p:blipFill>
        <p:spPr>
          <a:xfrm>
            <a:off x="6210300" y="2714476"/>
            <a:ext cx="5505450" cy="2181225"/>
          </a:xfrm>
          <a:prstGeom prst="rect">
            <a:avLst/>
          </a:prstGeom>
        </p:spPr>
      </p:pic>
      <p:pic>
        <p:nvPicPr>
          <p:cNvPr id="11" name="Picture 10" descr="image.png"/>
          <p:cNvPicPr>
            <a:picLocks noChangeAspect="1"/>
          </p:cNvPicPr>
          <p:nvPr/>
        </p:nvPicPr>
        <p:blipFill>
          <a:blip r:embed="rId11"/>
          <a:stretch>
            <a:fillRect/>
          </a:stretch>
        </p:blipFill>
        <p:spPr>
          <a:xfrm>
            <a:off x="8610600" y="495300"/>
            <a:ext cx="962025" cy="213270"/>
          </a:xfrm>
          <a:prstGeom prst="rect">
            <a:avLst/>
          </a:prstGeom>
        </p:spPr>
      </p:pic>
      <p:sp>
        <p:nvSpPr>
          <p:cNvPr id="12" name="TextBox 11"/>
          <p:cNvSpPr txBox="1"/>
          <p:nvPr/>
        </p:nvSpPr>
        <p:spPr>
          <a:xfrm>
            <a:off x="476250" y="1013370"/>
            <a:ext cx="11239500" cy="200025"/>
          </a:xfrm>
          <a:prstGeom prst="rect">
            <a:avLst/>
          </a:prstGeom>
          <a:noFill/>
        </p:spPr>
        <p:txBody>
          <a:bodyPr wrap="square" lIns="0" tIns="0" rIns="0" bIns="0" anchor="t">
            <a:spAutoFit/>
          </a:bodyPr>
          <a:lstStyle/>
          <a:p>
            <a:pPr algn="l">
              <a:lnSpc>
                <a:spcPts val="1575"/>
              </a:lnSpc>
            </a:pPr>
            <a:r>
              <a:rPr sz="1050" b="0" i="0" u="none">
                <a:solidFill>
                  <a:srgbClr val="475569"/>
                </a:solidFill>
                <a:latin typeface="Open Sans"/>
              </a:rPr>
              <a:t>The robust multi-tiered data pipeline processes unstructured financial feeds into an optimized relational SQLite database with 11 dimension and fact tables.</a:t>
            </a:r>
          </a:p>
        </p:txBody>
      </p:sp>
      <p:pic>
        <p:nvPicPr>
          <p:cNvPr id="13" name="Picture 12" descr="image.png"/>
          <p:cNvPicPr>
            <a:picLocks noChangeAspect="1"/>
          </p:cNvPicPr>
          <p:nvPr/>
        </p:nvPicPr>
        <p:blipFill>
          <a:blip r:embed="rId12"/>
          <a:stretch>
            <a:fillRect/>
          </a:stretch>
        </p:blipFill>
        <p:spPr>
          <a:xfrm>
            <a:off x="1254025" y="1575345"/>
            <a:ext cx="238125" cy="190500"/>
          </a:xfrm>
          <a:prstGeom prst="rect">
            <a:avLst/>
          </a:prstGeom>
        </p:spPr>
      </p:pic>
      <p:sp>
        <p:nvSpPr>
          <p:cNvPr id="14" name="TextBox 13"/>
          <p:cNvSpPr txBox="1"/>
          <p:nvPr/>
        </p:nvSpPr>
        <p:spPr>
          <a:xfrm>
            <a:off x="541418" y="1842045"/>
            <a:ext cx="1663489" cy="190500"/>
          </a:xfrm>
          <a:prstGeom prst="rect">
            <a:avLst/>
          </a:prstGeom>
          <a:noFill/>
        </p:spPr>
        <p:txBody>
          <a:bodyPr wrap="square" lIns="0" tIns="0" rIns="0" bIns="0" anchor="t">
            <a:spAutoFit/>
          </a:bodyPr>
          <a:lstStyle/>
          <a:p>
            <a:pPr algn="ctr"/>
            <a:r>
              <a:rPr sz="975" b="1" i="0" u="none">
                <a:solidFill>
                  <a:srgbClr val="190482"/>
                </a:solidFill>
                <a:latin typeface="Poppins"/>
              </a:rPr>
              <a:t>1. Ingestion</a:t>
            </a:r>
          </a:p>
        </p:txBody>
      </p:sp>
      <p:sp>
        <p:nvSpPr>
          <p:cNvPr id="15" name="TextBox 14"/>
          <p:cNvSpPr txBox="1"/>
          <p:nvPr/>
        </p:nvSpPr>
        <p:spPr>
          <a:xfrm>
            <a:off x="581025" y="2070645"/>
            <a:ext cx="1584275" cy="272355"/>
          </a:xfrm>
          <a:prstGeom prst="rect">
            <a:avLst/>
          </a:prstGeom>
          <a:noFill/>
        </p:spPr>
        <p:txBody>
          <a:bodyPr wrap="square" lIns="0" tIns="0" rIns="0" bIns="0" anchor="t">
            <a:spAutoFit/>
          </a:bodyPr>
          <a:lstStyle/>
          <a:p>
            <a:pPr algn="ctr">
              <a:lnSpc>
                <a:spcPts val="1072"/>
              </a:lnSpc>
            </a:pPr>
            <a:r>
              <a:rPr sz="825" b="0" i="0" u="none">
                <a:solidFill>
                  <a:srgbClr val="475569"/>
                </a:solidFill>
                <a:latin typeface="Open Sans"/>
              </a:rPr>
              <a:t>Python REST scripts fetching raw JSON/CSV feeds</a:t>
            </a:r>
          </a:p>
        </p:txBody>
      </p:sp>
      <p:pic>
        <p:nvPicPr>
          <p:cNvPr id="16" name="Picture 15" descr="image.png"/>
          <p:cNvPicPr>
            <a:picLocks noChangeAspect="1"/>
          </p:cNvPicPr>
          <p:nvPr/>
        </p:nvPicPr>
        <p:blipFill>
          <a:blip r:embed="rId13"/>
          <a:stretch>
            <a:fillRect/>
          </a:stretch>
        </p:blipFill>
        <p:spPr>
          <a:xfrm>
            <a:off x="3166913" y="1575345"/>
            <a:ext cx="190500" cy="190500"/>
          </a:xfrm>
          <a:prstGeom prst="rect">
            <a:avLst/>
          </a:prstGeom>
        </p:spPr>
      </p:pic>
      <p:sp>
        <p:nvSpPr>
          <p:cNvPr id="17" name="TextBox 16"/>
          <p:cNvSpPr txBox="1"/>
          <p:nvPr/>
        </p:nvSpPr>
        <p:spPr>
          <a:xfrm>
            <a:off x="2430493" y="1842045"/>
            <a:ext cx="1663489" cy="190500"/>
          </a:xfrm>
          <a:prstGeom prst="rect">
            <a:avLst/>
          </a:prstGeom>
          <a:noFill/>
        </p:spPr>
        <p:txBody>
          <a:bodyPr wrap="square" lIns="0" tIns="0" rIns="0" bIns="0" anchor="t">
            <a:spAutoFit/>
          </a:bodyPr>
          <a:lstStyle/>
          <a:p>
            <a:pPr algn="ctr"/>
            <a:r>
              <a:rPr sz="975" b="1" i="0" u="none">
                <a:solidFill>
                  <a:srgbClr val="190482"/>
                </a:solidFill>
                <a:latin typeface="Poppins"/>
              </a:rPr>
              <a:t>2. Cleaning</a:t>
            </a:r>
          </a:p>
        </p:txBody>
      </p:sp>
      <p:sp>
        <p:nvSpPr>
          <p:cNvPr id="18" name="TextBox 17"/>
          <p:cNvSpPr txBox="1"/>
          <p:nvPr/>
        </p:nvSpPr>
        <p:spPr>
          <a:xfrm>
            <a:off x="2470100" y="2070645"/>
            <a:ext cx="1584275" cy="272355"/>
          </a:xfrm>
          <a:prstGeom prst="rect">
            <a:avLst/>
          </a:prstGeom>
          <a:noFill/>
        </p:spPr>
        <p:txBody>
          <a:bodyPr wrap="square" lIns="0" tIns="0" rIns="0" bIns="0" anchor="t">
            <a:spAutoFit/>
          </a:bodyPr>
          <a:lstStyle/>
          <a:p>
            <a:pPr algn="ctr">
              <a:lnSpc>
                <a:spcPts val="1072"/>
              </a:lnSpc>
            </a:pPr>
            <a:r>
              <a:rPr sz="825" b="0" i="0" u="none">
                <a:solidFill>
                  <a:srgbClr val="475569"/>
                </a:solidFill>
                <a:latin typeface="Open Sans"/>
              </a:rPr>
              <a:t>Pandas missing value handling &amp; date normalization</a:t>
            </a:r>
          </a:p>
        </p:txBody>
      </p:sp>
      <p:pic>
        <p:nvPicPr>
          <p:cNvPr id="19" name="Picture 18" descr="image.png"/>
          <p:cNvPicPr>
            <a:picLocks noChangeAspect="1"/>
          </p:cNvPicPr>
          <p:nvPr/>
        </p:nvPicPr>
        <p:blipFill>
          <a:blip r:embed="rId14"/>
          <a:stretch>
            <a:fillRect/>
          </a:stretch>
        </p:blipFill>
        <p:spPr>
          <a:xfrm>
            <a:off x="5041701" y="1575345"/>
            <a:ext cx="219075" cy="190500"/>
          </a:xfrm>
          <a:prstGeom prst="rect">
            <a:avLst/>
          </a:prstGeom>
        </p:spPr>
      </p:pic>
      <p:sp>
        <p:nvSpPr>
          <p:cNvPr id="20" name="TextBox 19"/>
          <p:cNvSpPr txBox="1"/>
          <p:nvPr/>
        </p:nvSpPr>
        <p:spPr>
          <a:xfrm>
            <a:off x="4319568" y="1842045"/>
            <a:ext cx="1663489" cy="190500"/>
          </a:xfrm>
          <a:prstGeom prst="rect">
            <a:avLst/>
          </a:prstGeom>
          <a:noFill/>
        </p:spPr>
        <p:txBody>
          <a:bodyPr wrap="square" lIns="0" tIns="0" rIns="0" bIns="0" anchor="t">
            <a:spAutoFit/>
          </a:bodyPr>
          <a:lstStyle/>
          <a:p>
            <a:pPr algn="ctr"/>
            <a:r>
              <a:rPr sz="975" b="1" i="0" u="none">
                <a:solidFill>
                  <a:srgbClr val="190482"/>
                </a:solidFill>
                <a:latin typeface="Poppins"/>
              </a:rPr>
              <a:t>3. Loading</a:t>
            </a:r>
          </a:p>
        </p:txBody>
      </p:sp>
      <p:sp>
        <p:nvSpPr>
          <p:cNvPr id="21" name="TextBox 20"/>
          <p:cNvSpPr txBox="1"/>
          <p:nvPr/>
        </p:nvSpPr>
        <p:spPr>
          <a:xfrm>
            <a:off x="4359175" y="2070645"/>
            <a:ext cx="1584275" cy="272355"/>
          </a:xfrm>
          <a:prstGeom prst="rect">
            <a:avLst/>
          </a:prstGeom>
          <a:noFill/>
        </p:spPr>
        <p:txBody>
          <a:bodyPr wrap="square" lIns="0" tIns="0" rIns="0" bIns="0" anchor="t">
            <a:spAutoFit/>
          </a:bodyPr>
          <a:lstStyle/>
          <a:p>
            <a:pPr algn="ctr">
              <a:lnSpc>
                <a:spcPts val="1072"/>
              </a:lnSpc>
            </a:pPr>
            <a:r>
              <a:rPr sz="825" b="0" i="0" u="none">
                <a:solidFill>
                  <a:srgbClr val="475569"/>
                </a:solidFill>
                <a:latin typeface="Open Sans"/>
              </a:rPr>
              <a:t>SQLAlchemy ORM into SQLite Relational DB</a:t>
            </a:r>
          </a:p>
        </p:txBody>
      </p:sp>
      <p:pic>
        <p:nvPicPr>
          <p:cNvPr id="22" name="Picture 21" descr="image.png"/>
          <p:cNvPicPr>
            <a:picLocks noChangeAspect="1"/>
          </p:cNvPicPr>
          <p:nvPr/>
        </p:nvPicPr>
        <p:blipFill>
          <a:blip r:embed="rId15"/>
          <a:stretch>
            <a:fillRect/>
          </a:stretch>
        </p:blipFill>
        <p:spPr>
          <a:xfrm>
            <a:off x="6954738" y="1575345"/>
            <a:ext cx="171450" cy="190500"/>
          </a:xfrm>
          <a:prstGeom prst="rect">
            <a:avLst/>
          </a:prstGeom>
        </p:spPr>
      </p:pic>
      <p:sp>
        <p:nvSpPr>
          <p:cNvPr id="23" name="TextBox 22"/>
          <p:cNvSpPr txBox="1"/>
          <p:nvPr/>
        </p:nvSpPr>
        <p:spPr>
          <a:xfrm>
            <a:off x="6208640" y="1842045"/>
            <a:ext cx="1663645" cy="190500"/>
          </a:xfrm>
          <a:prstGeom prst="rect">
            <a:avLst/>
          </a:prstGeom>
          <a:noFill/>
        </p:spPr>
        <p:txBody>
          <a:bodyPr wrap="square" lIns="0" tIns="0" rIns="0" bIns="0" anchor="t">
            <a:spAutoFit/>
          </a:bodyPr>
          <a:lstStyle/>
          <a:p>
            <a:pPr algn="ctr"/>
            <a:r>
              <a:rPr sz="975" b="1" i="0" u="none">
                <a:solidFill>
                  <a:srgbClr val="190482"/>
                </a:solidFill>
                <a:latin typeface="Poppins"/>
              </a:rPr>
              <a:t>4. Storage</a:t>
            </a:r>
          </a:p>
        </p:txBody>
      </p:sp>
      <p:sp>
        <p:nvSpPr>
          <p:cNvPr id="24" name="TextBox 23"/>
          <p:cNvSpPr txBox="1"/>
          <p:nvPr/>
        </p:nvSpPr>
        <p:spPr>
          <a:xfrm>
            <a:off x="6248251" y="2070645"/>
            <a:ext cx="1584424" cy="272355"/>
          </a:xfrm>
          <a:prstGeom prst="rect">
            <a:avLst/>
          </a:prstGeom>
          <a:noFill/>
        </p:spPr>
        <p:txBody>
          <a:bodyPr wrap="square" lIns="0" tIns="0" rIns="0" bIns="0" anchor="t">
            <a:spAutoFit/>
          </a:bodyPr>
          <a:lstStyle/>
          <a:p>
            <a:pPr algn="ctr">
              <a:lnSpc>
                <a:spcPts val="1072"/>
              </a:lnSpc>
            </a:pPr>
            <a:r>
              <a:rPr sz="825" b="0" i="0" u="none">
                <a:solidFill>
                  <a:srgbClr val="475569"/>
                </a:solidFill>
                <a:latin typeface="Open Sans"/>
              </a:rPr>
              <a:t>11 Fact &amp; Dimension structured schemas</a:t>
            </a:r>
          </a:p>
        </p:txBody>
      </p:sp>
      <p:pic>
        <p:nvPicPr>
          <p:cNvPr id="25" name="Picture 24" descr="image.png"/>
          <p:cNvPicPr>
            <a:picLocks noChangeAspect="1"/>
          </p:cNvPicPr>
          <p:nvPr/>
        </p:nvPicPr>
        <p:blipFill>
          <a:blip r:embed="rId16"/>
          <a:stretch>
            <a:fillRect/>
          </a:stretch>
        </p:blipFill>
        <p:spPr>
          <a:xfrm>
            <a:off x="8858101" y="1575345"/>
            <a:ext cx="142875" cy="190500"/>
          </a:xfrm>
          <a:prstGeom prst="rect">
            <a:avLst/>
          </a:prstGeom>
        </p:spPr>
      </p:pic>
      <p:sp>
        <p:nvSpPr>
          <p:cNvPr id="26" name="TextBox 25"/>
          <p:cNvSpPr txBox="1"/>
          <p:nvPr/>
        </p:nvSpPr>
        <p:spPr>
          <a:xfrm>
            <a:off x="8097868" y="1842045"/>
            <a:ext cx="1663489" cy="190500"/>
          </a:xfrm>
          <a:prstGeom prst="rect">
            <a:avLst/>
          </a:prstGeom>
          <a:noFill/>
        </p:spPr>
        <p:txBody>
          <a:bodyPr wrap="square" lIns="0" tIns="0" rIns="0" bIns="0" anchor="t">
            <a:spAutoFit/>
          </a:bodyPr>
          <a:lstStyle/>
          <a:p>
            <a:pPr algn="ctr"/>
            <a:r>
              <a:rPr sz="975" b="1" i="0" u="none">
                <a:solidFill>
                  <a:srgbClr val="190482"/>
                </a:solidFill>
                <a:latin typeface="Poppins"/>
              </a:rPr>
              <a:t>5. Analytics</a:t>
            </a:r>
          </a:p>
        </p:txBody>
      </p:sp>
      <p:sp>
        <p:nvSpPr>
          <p:cNvPr id="27" name="TextBox 26"/>
          <p:cNvSpPr txBox="1"/>
          <p:nvPr/>
        </p:nvSpPr>
        <p:spPr>
          <a:xfrm>
            <a:off x="8137475" y="2070645"/>
            <a:ext cx="1584275" cy="272355"/>
          </a:xfrm>
          <a:prstGeom prst="rect">
            <a:avLst/>
          </a:prstGeom>
          <a:noFill/>
        </p:spPr>
        <p:txBody>
          <a:bodyPr wrap="square" lIns="0" tIns="0" rIns="0" bIns="0" anchor="t">
            <a:spAutoFit/>
          </a:bodyPr>
          <a:lstStyle/>
          <a:p>
            <a:pPr algn="ctr">
              <a:lnSpc>
                <a:spcPts val="1072"/>
              </a:lnSpc>
            </a:pPr>
            <a:r>
              <a:rPr sz="825" b="0" i="0" u="none">
                <a:solidFill>
                  <a:srgbClr val="475569"/>
                </a:solidFill>
                <a:latin typeface="Open Sans"/>
              </a:rPr>
              <a:t>SQL queries &amp; Python quantitative scripts</a:t>
            </a:r>
          </a:p>
        </p:txBody>
      </p:sp>
      <p:pic>
        <p:nvPicPr>
          <p:cNvPr id="28" name="Picture 27" descr="image.png"/>
          <p:cNvPicPr>
            <a:picLocks noChangeAspect="1"/>
          </p:cNvPicPr>
          <p:nvPr/>
        </p:nvPicPr>
        <p:blipFill>
          <a:blip r:embed="rId17"/>
          <a:stretch>
            <a:fillRect/>
          </a:stretch>
        </p:blipFill>
        <p:spPr>
          <a:xfrm>
            <a:off x="10709076" y="1575345"/>
            <a:ext cx="219075" cy="190500"/>
          </a:xfrm>
          <a:prstGeom prst="rect">
            <a:avLst/>
          </a:prstGeom>
        </p:spPr>
      </p:pic>
      <p:sp>
        <p:nvSpPr>
          <p:cNvPr id="29" name="TextBox 28"/>
          <p:cNvSpPr txBox="1"/>
          <p:nvPr/>
        </p:nvSpPr>
        <p:spPr>
          <a:xfrm>
            <a:off x="9986943" y="1842045"/>
            <a:ext cx="1663489" cy="190500"/>
          </a:xfrm>
          <a:prstGeom prst="rect">
            <a:avLst/>
          </a:prstGeom>
          <a:noFill/>
        </p:spPr>
        <p:txBody>
          <a:bodyPr wrap="square" lIns="0" tIns="0" rIns="0" bIns="0" anchor="t">
            <a:spAutoFit/>
          </a:bodyPr>
          <a:lstStyle/>
          <a:p>
            <a:pPr algn="ctr"/>
            <a:r>
              <a:rPr sz="975" b="1" i="0" u="none">
                <a:solidFill>
                  <a:srgbClr val="190482"/>
                </a:solidFill>
                <a:latin typeface="Poppins"/>
              </a:rPr>
              <a:t>6. Power BI</a:t>
            </a:r>
          </a:p>
        </p:txBody>
      </p:sp>
      <p:sp>
        <p:nvSpPr>
          <p:cNvPr id="30" name="TextBox 29"/>
          <p:cNvSpPr txBox="1"/>
          <p:nvPr/>
        </p:nvSpPr>
        <p:spPr>
          <a:xfrm>
            <a:off x="10026550" y="2070645"/>
            <a:ext cx="1584275" cy="272355"/>
          </a:xfrm>
          <a:prstGeom prst="rect">
            <a:avLst/>
          </a:prstGeom>
          <a:noFill/>
        </p:spPr>
        <p:txBody>
          <a:bodyPr wrap="square" lIns="0" tIns="0" rIns="0" bIns="0" anchor="t">
            <a:spAutoFit/>
          </a:bodyPr>
          <a:lstStyle/>
          <a:p>
            <a:pPr algn="ctr">
              <a:lnSpc>
                <a:spcPts val="1072"/>
              </a:lnSpc>
            </a:pPr>
            <a:r>
              <a:rPr sz="825" b="0" i="0" u="none">
                <a:solidFill>
                  <a:srgbClr val="475569"/>
                </a:solidFill>
                <a:latin typeface="Open Sans"/>
              </a:rPr>
              <a:t>Interactive dashboard visualizations &amp; KPIs</a:t>
            </a:r>
          </a:p>
        </p:txBody>
      </p:sp>
      <p:sp>
        <p:nvSpPr>
          <p:cNvPr id="31" name="TextBox 30"/>
          <p:cNvSpPr txBox="1"/>
          <p:nvPr/>
        </p:nvSpPr>
        <p:spPr>
          <a:xfrm>
            <a:off x="990600" y="2943076"/>
            <a:ext cx="4791075" cy="257175"/>
          </a:xfrm>
          <a:prstGeom prst="rect">
            <a:avLst/>
          </a:prstGeom>
          <a:noFill/>
        </p:spPr>
        <p:txBody>
          <a:bodyPr wrap="square" lIns="0" tIns="0" rIns="0" bIns="0" anchor="ctr">
            <a:spAutoFit/>
          </a:bodyPr>
          <a:lstStyle/>
          <a:p>
            <a:pPr algn="l"/>
            <a:r>
              <a:rPr sz="1350" b="0" i="0" u="none">
                <a:solidFill>
                  <a:srgbClr val="190482"/>
                </a:solidFill>
                <a:latin typeface="Poppins SemiBold"/>
              </a:rPr>
              <a:t>Pipeline Processing Logic</a:t>
            </a:r>
          </a:p>
        </p:txBody>
      </p:sp>
      <p:sp>
        <p:nvSpPr>
          <p:cNvPr id="32" name="TextBox 31"/>
          <p:cNvSpPr txBox="1"/>
          <p:nvPr/>
        </p:nvSpPr>
        <p:spPr>
          <a:xfrm>
            <a:off x="6696075" y="2943076"/>
            <a:ext cx="4819650" cy="257175"/>
          </a:xfrm>
          <a:prstGeom prst="rect">
            <a:avLst/>
          </a:prstGeom>
          <a:noFill/>
        </p:spPr>
        <p:txBody>
          <a:bodyPr wrap="square" lIns="0" tIns="0" rIns="0" bIns="0" anchor="ctr">
            <a:spAutoFit/>
          </a:bodyPr>
          <a:lstStyle/>
          <a:p>
            <a:pPr algn="l"/>
            <a:r>
              <a:rPr sz="1350" b="0" i="0" u="none">
                <a:solidFill>
                  <a:srgbClr val="190482"/>
                </a:solidFill>
                <a:latin typeface="Poppins SemiBold"/>
              </a:rPr>
              <a:t>Relational Database Design</a:t>
            </a:r>
          </a:p>
        </p:txBody>
      </p:sp>
      <p:pic>
        <p:nvPicPr>
          <p:cNvPr id="33" name="Picture 32" descr="image.png"/>
          <p:cNvPicPr>
            <a:picLocks noChangeAspect="1"/>
          </p:cNvPicPr>
          <p:nvPr/>
        </p:nvPicPr>
        <p:blipFill>
          <a:blip r:embed="rId18"/>
          <a:stretch>
            <a:fillRect/>
          </a:stretch>
        </p:blipFill>
        <p:spPr>
          <a:xfrm>
            <a:off x="676275" y="2985938"/>
            <a:ext cx="219075" cy="171450"/>
          </a:xfrm>
          <a:prstGeom prst="rect">
            <a:avLst/>
          </a:prstGeom>
        </p:spPr>
      </p:pic>
      <p:sp>
        <p:nvSpPr>
          <p:cNvPr id="34" name="TextBox 33"/>
          <p:cNvSpPr txBox="1"/>
          <p:nvPr/>
        </p:nvSpPr>
        <p:spPr>
          <a:xfrm>
            <a:off x="790575" y="329311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35" name="TextBox 34"/>
          <p:cNvSpPr txBox="1"/>
          <p:nvPr/>
        </p:nvSpPr>
        <p:spPr>
          <a:xfrm>
            <a:off x="847725" y="3295501"/>
            <a:ext cx="4933950" cy="214312"/>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Type Coercion:</a:t>
            </a:r>
            <a:r>
              <a:rPr sz="1125" b="0" i="0" u="none">
                <a:solidFill>
                  <a:srgbClr val="222222"/>
                </a:solidFill>
                <a:latin typeface="Open Sans"/>
              </a:rPr>
              <a:t> Standardized numerical NAV precision &amp; date formats.</a:t>
            </a:r>
          </a:p>
        </p:txBody>
      </p:sp>
      <p:sp>
        <p:nvSpPr>
          <p:cNvPr id="36" name="TextBox 35"/>
          <p:cNvSpPr txBox="1"/>
          <p:nvPr/>
        </p:nvSpPr>
        <p:spPr>
          <a:xfrm>
            <a:off x="790575" y="3564582"/>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37" name="TextBox 36"/>
          <p:cNvSpPr txBox="1"/>
          <p:nvPr/>
        </p:nvSpPr>
        <p:spPr>
          <a:xfrm>
            <a:off x="847725" y="3566963"/>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Data Validation:</a:t>
            </a:r>
            <a:r>
              <a:rPr sz="1125" b="0" i="0" u="none">
                <a:solidFill>
                  <a:srgbClr val="222222"/>
                </a:solidFill>
                <a:latin typeface="Open Sans"/>
              </a:rPr>
              <a:t> Automated checks for duplicate transactions and missing trade records.</a:t>
            </a:r>
          </a:p>
        </p:txBody>
      </p:sp>
      <p:sp>
        <p:nvSpPr>
          <p:cNvPr id="38" name="TextBox 37"/>
          <p:cNvSpPr txBox="1"/>
          <p:nvPr/>
        </p:nvSpPr>
        <p:spPr>
          <a:xfrm>
            <a:off x="790575" y="4050357"/>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39" name="TextBox 38"/>
          <p:cNvSpPr txBox="1"/>
          <p:nvPr/>
        </p:nvSpPr>
        <p:spPr>
          <a:xfrm>
            <a:off x="847725" y="4052738"/>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Calculated Fields:</a:t>
            </a:r>
            <a:r>
              <a:rPr sz="1125" b="0" i="0" u="none">
                <a:solidFill>
                  <a:srgbClr val="222222"/>
                </a:solidFill>
                <a:latin typeface="Open Sans"/>
              </a:rPr>
              <a:t> Pre-computing daily log returns and cumulative returns.</a:t>
            </a:r>
          </a:p>
        </p:txBody>
      </p:sp>
      <p:pic>
        <p:nvPicPr>
          <p:cNvPr id="40" name="Picture 39" descr="image.png"/>
          <p:cNvPicPr>
            <a:picLocks noChangeAspect="1"/>
          </p:cNvPicPr>
          <p:nvPr/>
        </p:nvPicPr>
        <p:blipFill>
          <a:blip r:embed="rId19"/>
          <a:stretch>
            <a:fillRect/>
          </a:stretch>
        </p:blipFill>
        <p:spPr>
          <a:xfrm>
            <a:off x="6410325" y="2985938"/>
            <a:ext cx="190500" cy="171450"/>
          </a:xfrm>
          <a:prstGeom prst="rect">
            <a:avLst/>
          </a:prstGeom>
        </p:spPr>
      </p:pic>
      <p:sp>
        <p:nvSpPr>
          <p:cNvPr id="41" name="TextBox 40"/>
          <p:cNvSpPr txBox="1"/>
          <p:nvPr/>
        </p:nvSpPr>
        <p:spPr>
          <a:xfrm>
            <a:off x="6524625" y="329311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2" name="TextBox 41"/>
          <p:cNvSpPr txBox="1"/>
          <p:nvPr/>
        </p:nvSpPr>
        <p:spPr>
          <a:xfrm>
            <a:off x="6581775" y="3295501"/>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Fact Tables:</a:t>
            </a:r>
            <a:r>
              <a:rPr sz="1125" b="0" i="0" u="none">
                <a:solidFill>
                  <a:srgbClr val="222222"/>
                </a:solidFill>
                <a:latin typeface="Open Sans"/>
              </a:rPr>
              <a:t> `nav_history` (64,320 rows), `investor_transactions` (32,778 rows).</a:t>
            </a:r>
          </a:p>
        </p:txBody>
      </p:sp>
      <p:sp>
        <p:nvSpPr>
          <p:cNvPr id="43" name="TextBox 42"/>
          <p:cNvSpPr txBox="1"/>
          <p:nvPr/>
        </p:nvSpPr>
        <p:spPr>
          <a:xfrm>
            <a:off x="6524625" y="377889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4" name="TextBox 43"/>
          <p:cNvSpPr txBox="1"/>
          <p:nvPr/>
        </p:nvSpPr>
        <p:spPr>
          <a:xfrm>
            <a:off x="6581775" y="3781276"/>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Dimension Tables:</a:t>
            </a:r>
            <a:r>
              <a:rPr sz="1125" b="0" i="0" u="none">
                <a:solidFill>
                  <a:srgbClr val="222222"/>
                </a:solidFill>
                <a:latin typeface="Open Sans"/>
              </a:rPr>
              <a:t> `fund_master`, `scheme_metadata`, `benchmark_index`.</a:t>
            </a:r>
          </a:p>
        </p:txBody>
      </p:sp>
      <p:sp>
        <p:nvSpPr>
          <p:cNvPr id="45" name="TextBox 44"/>
          <p:cNvSpPr txBox="1"/>
          <p:nvPr/>
        </p:nvSpPr>
        <p:spPr>
          <a:xfrm>
            <a:off x="6524625" y="426466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6" name="TextBox 45"/>
          <p:cNvSpPr txBox="1"/>
          <p:nvPr/>
        </p:nvSpPr>
        <p:spPr>
          <a:xfrm>
            <a:off x="6581775" y="4267051"/>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Optimization:</a:t>
            </a:r>
            <a:r>
              <a:rPr sz="1125" b="0" i="0" u="none">
                <a:solidFill>
                  <a:srgbClr val="222222"/>
                </a:solidFill>
                <a:latin typeface="Open Sans"/>
              </a:rPr>
              <a:t> Indexed primary/foreign key joins for instant Power BI queries.</a:t>
            </a:r>
          </a:p>
        </p:txBody>
      </p:sp>
      <p:sp>
        <p:nvSpPr>
          <p:cNvPr id="47" name="TextBox 46"/>
          <p:cNvSpPr txBox="1"/>
          <p:nvPr/>
        </p:nvSpPr>
        <p:spPr>
          <a:xfrm>
            <a:off x="476250" y="419100"/>
            <a:ext cx="11239500" cy="365670"/>
          </a:xfrm>
          <a:prstGeom prst="rect">
            <a:avLst/>
          </a:prstGeom>
          <a:noFill/>
        </p:spPr>
        <p:txBody>
          <a:bodyPr wrap="square" lIns="0" tIns="0" rIns="0" bIns="0" anchor="ctr">
            <a:spAutoFit/>
          </a:bodyPr>
          <a:lstStyle/>
          <a:p>
            <a:pPr algn="l">
              <a:lnSpc>
                <a:spcPts val="2879"/>
              </a:lnSpc>
            </a:pPr>
            <a:r>
              <a:rPr sz="2400" b="1" i="0" u="none" dirty="0">
                <a:solidFill>
                  <a:srgbClr val="190482"/>
                </a:solidFill>
                <a:latin typeface="Mongolian Baiti" panose="03000500000000000000" pitchFamily="66" charset="0"/>
                <a:cs typeface="Mongolian Baiti" panose="03000500000000000000" pitchFamily="66" charset="0"/>
              </a:rPr>
              <a:t>System Architecture &amp; Pipeline Engineering</a:t>
            </a:r>
          </a:p>
        </p:txBody>
      </p:sp>
      <p:sp>
        <p:nvSpPr>
          <p:cNvPr id="48" name="Rounded Rectangle 47"/>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16931420-3192-AB41-8D16-C575BFF86668}"/>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rgbClr val="DDF2FD"/>
                </a:solidFill>
                <a:latin typeface="Poppins"/>
              </a:rPr>
              <a:t> </a:t>
            </a:r>
            <a:r>
              <a:rPr lang="en-US" sz="1200" b="1" i="0" u="none" dirty="0">
                <a:solidFill>
                  <a:schemeClr val="tx1">
                    <a:lumMod val="75000"/>
                    <a:lumOff val="25000"/>
                  </a:schemeClr>
                </a:solidFill>
                <a:latin typeface="Poppins"/>
              </a:rPr>
              <a:t>Fintech</a:t>
            </a:r>
            <a:endParaRPr sz="1200" b="1" i="0" u="none" dirty="0">
              <a:solidFill>
                <a:schemeClr val="tx1">
                  <a:lumMod val="75000"/>
                  <a:lumOff val="25000"/>
                </a:schemeClr>
              </a:solidFill>
              <a:latin typeface="Poppins"/>
            </a:endParaRPr>
          </a:p>
        </p:txBody>
      </p:sp>
      <p:pic>
        <p:nvPicPr>
          <p:cNvPr id="54" name="Picture 53">
            <a:extLst>
              <a:ext uri="{FF2B5EF4-FFF2-40B4-BE49-F238E27FC236}">
                <a16:creationId xmlns:a16="http://schemas.microsoft.com/office/drawing/2014/main" id="{40BFA7CD-68B3-7B74-80CF-C03D6B73BB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5505450" cy="1238250"/>
          </a:xfrm>
          <a:prstGeom prst="rect">
            <a:avLst/>
          </a:prstGeom>
        </p:spPr>
      </p:pic>
      <p:pic>
        <p:nvPicPr>
          <p:cNvPr id="4" name="Picture 3" descr="image.png"/>
          <p:cNvPicPr>
            <a:picLocks noChangeAspect="1"/>
          </p:cNvPicPr>
          <p:nvPr/>
        </p:nvPicPr>
        <p:blipFill>
          <a:blip r:embed="rId4"/>
          <a:stretch>
            <a:fillRect/>
          </a:stretch>
        </p:blipFill>
        <p:spPr>
          <a:xfrm>
            <a:off x="476250" y="2404020"/>
            <a:ext cx="5505450" cy="1876425"/>
          </a:xfrm>
          <a:prstGeom prst="rect">
            <a:avLst/>
          </a:prstGeom>
        </p:spPr>
      </p:pic>
      <p:pic>
        <p:nvPicPr>
          <p:cNvPr id="5" name="Picture 4" descr="image.png"/>
          <p:cNvPicPr>
            <a:picLocks noChangeAspect="1"/>
          </p:cNvPicPr>
          <p:nvPr/>
        </p:nvPicPr>
        <p:blipFill>
          <a:blip r:embed="rId5"/>
          <a:stretch>
            <a:fillRect/>
          </a:stretch>
        </p:blipFill>
        <p:spPr>
          <a:xfrm>
            <a:off x="6210300" y="1013370"/>
            <a:ext cx="5505450" cy="3267075"/>
          </a:xfrm>
          <a:prstGeom prst="rect">
            <a:avLst/>
          </a:prstGeom>
        </p:spPr>
      </p:pic>
      <p:pic>
        <p:nvPicPr>
          <p:cNvPr id="6" name="Picture 5" descr="image.png"/>
          <p:cNvPicPr>
            <a:picLocks noChangeAspect="1"/>
          </p:cNvPicPr>
          <p:nvPr/>
        </p:nvPicPr>
        <p:blipFill>
          <a:blip r:embed="rId6"/>
          <a:stretch>
            <a:fillRect/>
          </a:stretch>
        </p:blipFill>
        <p:spPr>
          <a:xfrm>
            <a:off x="7815262" y="495300"/>
            <a:ext cx="1362075" cy="213270"/>
          </a:xfrm>
          <a:prstGeom prst="rect">
            <a:avLst/>
          </a:prstGeom>
        </p:spPr>
      </p:pic>
      <p:sp>
        <p:nvSpPr>
          <p:cNvPr id="7" name="TextBox 6"/>
          <p:cNvSpPr txBox="1"/>
          <p:nvPr/>
        </p:nvSpPr>
        <p:spPr>
          <a:xfrm>
            <a:off x="962025" y="1213395"/>
            <a:ext cx="4819650" cy="257175"/>
          </a:xfrm>
          <a:prstGeom prst="rect">
            <a:avLst/>
          </a:prstGeom>
          <a:noFill/>
        </p:spPr>
        <p:txBody>
          <a:bodyPr wrap="square" lIns="0" tIns="0" rIns="0" bIns="0" anchor="ctr">
            <a:spAutoFit/>
          </a:bodyPr>
          <a:lstStyle/>
          <a:p>
            <a:pPr algn="l"/>
            <a:r>
              <a:rPr sz="1350" b="0" i="0" u="none">
                <a:solidFill>
                  <a:srgbClr val="190482"/>
                </a:solidFill>
                <a:latin typeface="Poppins SemiBold"/>
              </a:rPr>
              <a:t>Long-Term NAV Trajectory</a:t>
            </a:r>
          </a:p>
        </p:txBody>
      </p:sp>
      <p:sp>
        <p:nvSpPr>
          <p:cNvPr id="8" name="TextBox 7"/>
          <p:cNvSpPr txBox="1"/>
          <p:nvPr/>
        </p:nvSpPr>
        <p:spPr>
          <a:xfrm>
            <a:off x="676275" y="1565820"/>
            <a:ext cx="5105400" cy="371475"/>
          </a:xfrm>
          <a:prstGeom prst="rect">
            <a:avLst/>
          </a:prstGeom>
          <a:noFill/>
        </p:spPr>
        <p:txBody>
          <a:bodyPr wrap="square" lIns="0" tIns="0" rIns="0" bIns="0" anchor="t">
            <a:spAutoFit/>
          </a:bodyPr>
          <a:lstStyle/>
          <a:p>
            <a:pPr algn="l">
              <a:lnSpc>
                <a:spcPts val="1462"/>
              </a:lnSpc>
            </a:pPr>
            <a:r>
              <a:rPr sz="975" b="0" i="0" u="none">
                <a:solidFill>
                  <a:srgbClr val="475569"/>
                </a:solidFill>
                <a:latin typeface="Open Sans"/>
              </a:rPr>
              <a:t>NAV values demonstrate an overall upward trajectory across analyzed schemes from </a:t>
            </a:r>
            <a:r>
              <a:rPr sz="975" b="1" i="0" u="none">
                <a:solidFill>
                  <a:srgbClr val="475569"/>
                </a:solidFill>
                <a:latin typeface="Open Sans"/>
              </a:rPr>
              <a:t>2022 to 2026</a:t>
            </a:r>
            <a:r>
              <a:rPr sz="975" b="0" i="0" u="none">
                <a:solidFill>
                  <a:srgbClr val="475569"/>
                </a:solidFill>
                <a:latin typeface="Open Sans"/>
              </a:rPr>
              <a:t>, effectively navigating market volatility phases.</a:t>
            </a:r>
          </a:p>
        </p:txBody>
      </p:sp>
      <p:sp>
        <p:nvSpPr>
          <p:cNvPr id="9" name="TextBox 8"/>
          <p:cNvSpPr txBox="1"/>
          <p:nvPr/>
        </p:nvSpPr>
        <p:spPr>
          <a:xfrm>
            <a:off x="942975" y="2604045"/>
            <a:ext cx="4838700" cy="257175"/>
          </a:xfrm>
          <a:prstGeom prst="rect">
            <a:avLst/>
          </a:prstGeom>
          <a:noFill/>
        </p:spPr>
        <p:txBody>
          <a:bodyPr wrap="square" lIns="0" tIns="0" rIns="0" bIns="0" anchor="ctr">
            <a:spAutoFit/>
          </a:bodyPr>
          <a:lstStyle/>
          <a:p>
            <a:pPr algn="l"/>
            <a:r>
              <a:rPr sz="1350" b="0" i="0" u="none">
                <a:solidFill>
                  <a:srgbClr val="190482"/>
                </a:solidFill>
                <a:latin typeface="Poppins SemiBold"/>
              </a:rPr>
              <a:t>Category Inflow Share</a:t>
            </a:r>
          </a:p>
        </p:txBody>
      </p:sp>
      <p:sp>
        <p:nvSpPr>
          <p:cNvPr id="10" name="TextBox 9"/>
          <p:cNvSpPr txBox="1"/>
          <p:nvPr/>
        </p:nvSpPr>
        <p:spPr>
          <a:xfrm>
            <a:off x="6734175" y="1213395"/>
            <a:ext cx="4781550" cy="257175"/>
          </a:xfrm>
          <a:prstGeom prst="rect">
            <a:avLst/>
          </a:prstGeom>
          <a:noFill/>
        </p:spPr>
        <p:txBody>
          <a:bodyPr wrap="square" lIns="0" tIns="0" rIns="0" bIns="0" anchor="ctr">
            <a:spAutoFit/>
          </a:bodyPr>
          <a:lstStyle/>
          <a:p>
            <a:pPr algn="l"/>
            <a:r>
              <a:rPr sz="1350" b="0" i="0" u="none">
                <a:solidFill>
                  <a:srgbClr val="190482"/>
                </a:solidFill>
                <a:latin typeface="Poppins SemiBold"/>
              </a:rPr>
              <a:t>Structural Industry Growth Metrics</a:t>
            </a:r>
          </a:p>
        </p:txBody>
      </p:sp>
      <p:pic>
        <p:nvPicPr>
          <p:cNvPr id="11" name="Picture 10" descr="image.png"/>
          <p:cNvPicPr>
            <a:picLocks noChangeAspect="1"/>
          </p:cNvPicPr>
          <p:nvPr/>
        </p:nvPicPr>
        <p:blipFill>
          <a:blip r:embed="rId7"/>
          <a:stretch>
            <a:fillRect/>
          </a:stretch>
        </p:blipFill>
        <p:spPr>
          <a:xfrm>
            <a:off x="676275" y="1256258"/>
            <a:ext cx="190500" cy="171450"/>
          </a:xfrm>
          <a:prstGeom prst="rect">
            <a:avLst/>
          </a:prstGeom>
        </p:spPr>
      </p:pic>
      <p:pic>
        <p:nvPicPr>
          <p:cNvPr id="12" name="Picture 11" descr="image.png"/>
          <p:cNvPicPr>
            <a:picLocks noChangeAspect="1"/>
          </p:cNvPicPr>
          <p:nvPr/>
        </p:nvPicPr>
        <p:blipFill>
          <a:blip r:embed="rId8"/>
          <a:stretch>
            <a:fillRect/>
          </a:stretch>
        </p:blipFill>
        <p:spPr>
          <a:xfrm>
            <a:off x="676275" y="2646908"/>
            <a:ext cx="171450" cy="171450"/>
          </a:xfrm>
          <a:prstGeom prst="rect">
            <a:avLst/>
          </a:prstGeom>
        </p:spPr>
      </p:pic>
      <p:pic>
        <p:nvPicPr>
          <p:cNvPr id="13" name="Picture 12" descr="image.png"/>
          <p:cNvPicPr>
            <a:picLocks noChangeAspect="1"/>
          </p:cNvPicPr>
          <p:nvPr/>
        </p:nvPicPr>
        <p:blipFill>
          <a:blip r:embed="rId9"/>
          <a:stretch>
            <a:fillRect/>
          </a:stretch>
        </p:blipFill>
        <p:spPr>
          <a:xfrm>
            <a:off x="6448425" y="1256258"/>
            <a:ext cx="190500" cy="171450"/>
          </a:xfrm>
          <a:prstGeom prst="rect">
            <a:avLst/>
          </a:prstGeom>
        </p:spPr>
      </p:pic>
      <p:sp>
        <p:nvSpPr>
          <p:cNvPr id="14" name="TextBox 13"/>
          <p:cNvSpPr txBox="1"/>
          <p:nvPr/>
        </p:nvSpPr>
        <p:spPr>
          <a:xfrm>
            <a:off x="6562725" y="156343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5" name="TextBox 14"/>
          <p:cNvSpPr txBox="1"/>
          <p:nvPr/>
        </p:nvSpPr>
        <p:spPr>
          <a:xfrm>
            <a:off x="6619875" y="1565820"/>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SIP Contribution Velocity:</a:t>
            </a:r>
            <a:r>
              <a:rPr sz="1125" b="0" i="0" u="none">
                <a:solidFill>
                  <a:srgbClr val="222222"/>
                </a:solidFill>
                <a:latin typeface="Open Sans"/>
              </a:rPr>
              <a:t> Monthly SIP inflows sustained record high growth, reflecting expanding retail participation across tier-2/3 cities.</a:t>
            </a:r>
          </a:p>
        </p:txBody>
      </p:sp>
      <p:sp>
        <p:nvSpPr>
          <p:cNvPr id="16" name="TextBox 15"/>
          <p:cNvSpPr txBox="1"/>
          <p:nvPr/>
        </p:nvSpPr>
        <p:spPr>
          <a:xfrm>
            <a:off x="6562725" y="210636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7" name="TextBox 16"/>
          <p:cNvSpPr txBox="1"/>
          <p:nvPr/>
        </p:nvSpPr>
        <p:spPr>
          <a:xfrm>
            <a:off x="6619875" y="2108745"/>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Fund House AUM Concentration:</a:t>
            </a:r>
            <a:r>
              <a:rPr sz="1125" b="0" i="0" u="none">
                <a:solidFill>
                  <a:srgbClr val="222222"/>
                </a:solidFill>
                <a:latin typeface="Open Sans"/>
              </a:rPr>
              <a:t> Top AMC players command a major share of AUM, driven by flagship Flexi-Cap and Large-Cap offerings.</a:t>
            </a:r>
          </a:p>
        </p:txBody>
      </p:sp>
      <p:sp>
        <p:nvSpPr>
          <p:cNvPr id="18" name="TextBox 17"/>
          <p:cNvSpPr txBox="1"/>
          <p:nvPr/>
        </p:nvSpPr>
        <p:spPr>
          <a:xfrm>
            <a:off x="6562725" y="264928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9" name="TextBox 18"/>
          <p:cNvSpPr txBox="1"/>
          <p:nvPr/>
        </p:nvSpPr>
        <p:spPr>
          <a:xfrm>
            <a:off x="6619875" y="2651670"/>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Industry Folio Expansion:</a:t>
            </a:r>
            <a:r>
              <a:rPr sz="1125" b="0" i="0" u="none">
                <a:solidFill>
                  <a:srgbClr val="222222"/>
                </a:solidFill>
                <a:latin typeface="Open Sans"/>
              </a:rPr>
              <a:t> Total mutual fund folios reached </a:t>
            </a:r>
            <a:r>
              <a:rPr sz="1125" b="1" i="0" u="none">
                <a:solidFill>
                  <a:srgbClr val="222222"/>
                </a:solidFill>
                <a:latin typeface="Open Sans"/>
              </a:rPr>
              <a:t>26.12 Cr</a:t>
            </a:r>
            <a:r>
              <a:rPr sz="1125" b="0" i="0" u="none">
                <a:solidFill>
                  <a:srgbClr val="222222"/>
                </a:solidFill>
                <a:latin typeface="Open Sans"/>
              </a:rPr>
              <a:t>, backed by aggressive digital onboarding.</a:t>
            </a:r>
          </a:p>
        </p:txBody>
      </p:sp>
      <p:sp>
        <p:nvSpPr>
          <p:cNvPr id="20" name="TextBox 19"/>
          <p:cNvSpPr txBox="1"/>
          <p:nvPr/>
        </p:nvSpPr>
        <p:spPr>
          <a:xfrm>
            <a:off x="6562725" y="319221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1" name="TextBox 20"/>
          <p:cNvSpPr txBox="1"/>
          <p:nvPr/>
        </p:nvSpPr>
        <p:spPr>
          <a:xfrm>
            <a:off x="6619875" y="3194595"/>
            <a:ext cx="48958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Equity Dominance:</a:t>
            </a:r>
            <a:r>
              <a:rPr sz="1125" b="0" i="0" u="none">
                <a:solidFill>
                  <a:srgbClr val="222222"/>
                </a:solidFill>
                <a:latin typeface="Open Sans"/>
              </a:rPr>
              <a:t> High net inflows shifted towards growth-oriented equity and hybrid schemes.</a:t>
            </a:r>
          </a:p>
        </p:txBody>
      </p:sp>
      <p:sp>
        <p:nvSpPr>
          <p:cNvPr id="22" name="TextBox 21"/>
          <p:cNvSpPr txBox="1"/>
          <p:nvPr/>
        </p:nvSpPr>
        <p:spPr>
          <a:xfrm>
            <a:off x="476250" y="419100"/>
            <a:ext cx="11239500" cy="365670"/>
          </a:xfrm>
          <a:prstGeom prst="rect">
            <a:avLst/>
          </a:prstGeom>
          <a:noFill/>
        </p:spPr>
        <p:txBody>
          <a:bodyPr wrap="square" lIns="0" tIns="0" rIns="0" bIns="0" anchor="ctr">
            <a:spAutoFit/>
          </a:bodyPr>
          <a:lstStyle/>
          <a:p>
            <a:pPr algn="l">
              <a:lnSpc>
                <a:spcPts val="2879"/>
              </a:lnSpc>
            </a:pPr>
            <a:r>
              <a:rPr sz="2400" b="1" i="0" u="none" dirty="0">
                <a:solidFill>
                  <a:srgbClr val="190482"/>
                </a:solidFill>
                <a:latin typeface="Mongolian Baiti" panose="03000500000000000000" pitchFamily="66" charset="0"/>
                <a:cs typeface="Mongolian Baiti" panose="03000500000000000000" pitchFamily="66" charset="0"/>
              </a:rPr>
              <a:t>EDA — Industry &amp; Market Dynamics</a:t>
            </a:r>
          </a:p>
        </p:txBody>
      </p:sp>
      <p:sp>
        <p:nvSpPr>
          <p:cNvPr id="23" name="Rounded Rectangle 22"/>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63A47CBB-AD2C-55E4-18D9-699A1477F018}"/>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29" name="Picture 28">
            <a:extLst>
              <a:ext uri="{FF2B5EF4-FFF2-40B4-BE49-F238E27FC236}">
                <a16:creationId xmlns:a16="http://schemas.microsoft.com/office/drawing/2014/main" id="{F255BB0B-5674-5AB9-438A-E79FD251E9FA}"/>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2681287" cy="883890"/>
          </a:xfrm>
          <a:prstGeom prst="rect">
            <a:avLst/>
          </a:prstGeom>
        </p:spPr>
      </p:pic>
      <p:pic>
        <p:nvPicPr>
          <p:cNvPr id="4" name="Picture 3" descr="image.png"/>
          <p:cNvPicPr>
            <a:picLocks noChangeAspect="1"/>
          </p:cNvPicPr>
          <p:nvPr/>
        </p:nvPicPr>
        <p:blipFill>
          <a:blip r:embed="rId4"/>
          <a:stretch>
            <a:fillRect/>
          </a:stretch>
        </p:blipFill>
        <p:spPr>
          <a:xfrm>
            <a:off x="3328987" y="1013370"/>
            <a:ext cx="2681287" cy="883890"/>
          </a:xfrm>
          <a:prstGeom prst="rect">
            <a:avLst/>
          </a:prstGeom>
        </p:spPr>
      </p:pic>
      <p:pic>
        <p:nvPicPr>
          <p:cNvPr id="5" name="Picture 4" descr="image.png"/>
          <p:cNvPicPr>
            <a:picLocks noChangeAspect="1"/>
          </p:cNvPicPr>
          <p:nvPr/>
        </p:nvPicPr>
        <p:blipFill>
          <a:blip r:embed="rId5"/>
          <a:stretch>
            <a:fillRect/>
          </a:stretch>
        </p:blipFill>
        <p:spPr>
          <a:xfrm>
            <a:off x="6181725" y="1013370"/>
            <a:ext cx="2681287" cy="883890"/>
          </a:xfrm>
          <a:prstGeom prst="rect">
            <a:avLst/>
          </a:prstGeom>
        </p:spPr>
      </p:pic>
      <p:pic>
        <p:nvPicPr>
          <p:cNvPr id="6" name="Picture 5" descr="image.png"/>
          <p:cNvPicPr>
            <a:picLocks noChangeAspect="1"/>
          </p:cNvPicPr>
          <p:nvPr/>
        </p:nvPicPr>
        <p:blipFill>
          <a:blip r:embed="rId6"/>
          <a:stretch>
            <a:fillRect/>
          </a:stretch>
        </p:blipFill>
        <p:spPr>
          <a:xfrm>
            <a:off x="9034462" y="1013370"/>
            <a:ext cx="2681287" cy="883890"/>
          </a:xfrm>
          <a:prstGeom prst="rect">
            <a:avLst/>
          </a:prstGeom>
        </p:spPr>
      </p:pic>
      <p:pic>
        <p:nvPicPr>
          <p:cNvPr id="7" name="Picture 6" descr="image.png"/>
          <p:cNvPicPr>
            <a:picLocks noChangeAspect="1"/>
          </p:cNvPicPr>
          <p:nvPr/>
        </p:nvPicPr>
        <p:blipFill>
          <a:blip r:embed="rId7"/>
          <a:stretch>
            <a:fillRect/>
          </a:stretch>
        </p:blipFill>
        <p:spPr>
          <a:xfrm>
            <a:off x="476250" y="2087760"/>
            <a:ext cx="5505450" cy="2190750"/>
          </a:xfrm>
          <a:prstGeom prst="rect">
            <a:avLst/>
          </a:prstGeom>
        </p:spPr>
      </p:pic>
      <p:pic>
        <p:nvPicPr>
          <p:cNvPr id="8" name="Picture 7" descr="image.png"/>
          <p:cNvPicPr>
            <a:picLocks noChangeAspect="1"/>
          </p:cNvPicPr>
          <p:nvPr/>
        </p:nvPicPr>
        <p:blipFill>
          <a:blip r:embed="rId8"/>
          <a:stretch>
            <a:fillRect/>
          </a:stretch>
        </p:blipFill>
        <p:spPr>
          <a:xfrm>
            <a:off x="6210300" y="2087760"/>
            <a:ext cx="5505450" cy="2190750"/>
          </a:xfrm>
          <a:prstGeom prst="rect">
            <a:avLst/>
          </a:prstGeom>
        </p:spPr>
      </p:pic>
      <p:pic>
        <p:nvPicPr>
          <p:cNvPr id="9" name="Picture 8" descr="image.png"/>
          <p:cNvPicPr>
            <a:picLocks noChangeAspect="1"/>
          </p:cNvPicPr>
          <p:nvPr/>
        </p:nvPicPr>
        <p:blipFill>
          <a:blip r:embed="rId9"/>
          <a:stretch>
            <a:fillRect/>
          </a:stretch>
        </p:blipFill>
        <p:spPr>
          <a:xfrm>
            <a:off x="7893586" y="486137"/>
            <a:ext cx="1781175" cy="213270"/>
          </a:xfrm>
          <a:prstGeom prst="rect">
            <a:avLst/>
          </a:prstGeom>
        </p:spPr>
      </p:pic>
      <p:sp>
        <p:nvSpPr>
          <p:cNvPr id="10" name="TextBox 9"/>
          <p:cNvSpPr txBox="1"/>
          <p:nvPr/>
        </p:nvSpPr>
        <p:spPr>
          <a:xfrm>
            <a:off x="695325"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ANALYZED TRANSACTIONS</a:t>
            </a:r>
          </a:p>
        </p:txBody>
      </p:sp>
      <p:sp>
        <p:nvSpPr>
          <p:cNvPr id="11" name="TextBox 10"/>
          <p:cNvSpPr txBox="1"/>
          <p:nvPr/>
        </p:nvSpPr>
        <p:spPr>
          <a:xfrm>
            <a:off x="695325"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32,778</a:t>
            </a:r>
          </a:p>
        </p:txBody>
      </p:sp>
      <p:sp>
        <p:nvSpPr>
          <p:cNvPr id="12" name="TextBox 11"/>
          <p:cNvSpPr txBox="1"/>
          <p:nvPr/>
        </p:nvSpPr>
        <p:spPr>
          <a:xfrm>
            <a:off x="3548062"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SIP TRANSACTIONS</a:t>
            </a:r>
          </a:p>
        </p:txBody>
      </p:sp>
      <p:sp>
        <p:nvSpPr>
          <p:cNvPr id="13" name="TextBox 12"/>
          <p:cNvSpPr txBox="1"/>
          <p:nvPr/>
        </p:nvSpPr>
        <p:spPr>
          <a:xfrm>
            <a:off x="3548062"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19,716</a:t>
            </a:r>
          </a:p>
        </p:txBody>
      </p:sp>
      <p:sp>
        <p:nvSpPr>
          <p:cNvPr id="14" name="TextBox 13"/>
          <p:cNvSpPr txBox="1"/>
          <p:nvPr/>
        </p:nvSpPr>
        <p:spPr>
          <a:xfrm>
            <a:off x="6400800"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TOP AGE GROUP SIP</a:t>
            </a:r>
          </a:p>
        </p:txBody>
      </p:sp>
      <p:sp>
        <p:nvSpPr>
          <p:cNvPr id="15" name="TextBox 14"/>
          <p:cNvSpPr txBox="1"/>
          <p:nvPr/>
        </p:nvSpPr>
        <p:spPr>
          <a:xfrm>
            <a:off x="6400800"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30-45 Yrs</a:t>
            </a:r>
          </a:p>
        </p:txBody>
      </p:sp>
      <p:sp>
        <p:nvSpPr>
          <p:cNvPr id="16" name="TextBox 15"/>
          <p:cNvSpPr txBox="1"/>
          <p:nvPr/>
        </p:nvSpPr>
        <p:spPr>
          <a:xfrm>
            <a:off x="9253537" y="1194345"/>
            <a:ext cx="2281237" cy="171450"/>
          </a:xfrm>
          <a:prstGeom prst="rect">
            <a:avLst/>
          </a:prstGeom>
          <a:noFill/>
        </p:spPr>
        <p:txBody>
          <a:bodyPr wrap="square" lIns="0" tIns="0" rIns="0" bIns="0" anchor="t">
            <a:spAutoFit/>
          </a:bodyPr>
          <a:lstStyle/>
          <a:p>
            <a:pPr algn="l"/>
            <a:r>
              <a:rPr sz="975" b="0" i="0" u="none">
                <a:solidFill>
                  <a:srgbClr val="64748B"/>
                </a:solidFill>
                <a:latin typeface="Open Sans SemiBold"/>
              </a:rPr>
              <a:t>KEY INFLOW CATEGORY</a:t>
            </a:r>
          </a:p>
        </p:txBody>
      </p:sp>
      <p:sp>
        <p:nvSpPr>
          <p:cNvPr id="17" name="TextBox 16"/>
          <p:cNvSpPr txBox="1"/>
          <p:nvPr/>
        </p:nvSpPr>
        <p:spPr>
          <a:xfrm>
            <a:off x="9253537" y="1422945"/>
            <a:ext cx="2281237" cy="293340"/>
          </a:xfrm>
          <a:prstGeom prst="rect">
            <a:avLst/>
          </a:prstGeom>
          <a:noFill/>
        </p:spPr>
        <p:txBody>
          <a:bodyPr wrap="square" lIns="0" tIns="0" rIns="0" bIns="0" anchor="t">
            <a:spAutoFit/>
          </a:bodyPr>
          <a:lstStyle/>
          <a:p>
            <a:pPr algn="l">
              <a:lnSpc>
                <a:spcPts val="2310"/>
              </a:lnSpc>
            </a:pPr>
            <a:r>
              <a:rPr sz="2100" b="1" i="0" u="none">
                <a:solidFill>
                  <a:srgbClr val="190482"/>
                </a:solidFill>
                <a:latin typeface="Poppins"/>
              </a:rPr>
              <a:t>Flexi Cap</a:t>
            </a:r>
          </a:p>
        </p:txBody>
      </p:sp>
      <p:sp>
        <p:nvSpPr>
          <p:cNvPr id="18" name="TextBox 17"/>
          <p:cNvSpPr txBox="1"/>
          <p:nvPr/>
        </p:nvSpPr>
        <p:spPr>
          <a:xfrm>
            <a:off x="990600" y="2287785"/>
            <a:ext cx="4791075" cy="257175"/>
          </a:xfrm>
          <a:prstGeom prst="rect">
            <a:avLst/>
          </a:prstGeom>
          <a:noFill/>
        </p:spPr>
        <p:txBody>
          <a:bodyPr wrap="square" lIns="0" tIns="0" rIns="0" bIns="0" anchor="ctr">
            <a:spAutoFit/>
          </a:bodyPr>
          <a:lstStyle/>
          <a:p>
            <a:pPr algn="l"/>
            <a:r>
              <a:rPr sz="1350" b="0" i="0" u="none">
                <a:solidFill>
                  <a:srgbClr val="190482"/>
                </a:solidFill>
                <a:latin typeface="Poppins SemiBold"/>
              </a:rPr>
              <a:t>Investor Behavioral Insights</a:t>
            </a:r>
          </a:p>
        </p:txBody>
      </p:sp>
      <p:sp>
        <p:nvSpPr>
          <p:cNvPr id="19" name="TextBox 18"/>
          <p:cNvSpPr txBox="1"/>
          <p:nvPr/>
        </p:nvSpPr>
        <p:spPr>
          <a:xfrm>
            <a:off x="6677025" y="2287785"/>
            <a:ext cx="4838700" cy="257175"/>
          </a:xfrm>
          <a:prstGeom prst="rect">
            <a:avLst/>
          </a:prstGeom>
          <a:noFill/>
        </p:spPr>
        <p:txBody>
          <a:bodyPr wrap="square" lIns="0" tIns="0" rIns="0" bIns="0" anchor="ctr">
            <a:spAutoFit/>
          </a:bodyPr>
          <a:lstStyle/>
          <a:p>
            <a:pPr algn="l"/>
            <a:r>
              <a:rPr sz="1350" b="0" i="0" u="none">
                <a:solidFill>
                  <a:srgbClr val="190482"/>
                </a:solidFill>
                <a:latin typeface="Poppins SemiBold"/>
              </a:rPr>
              <a:t>Sector &amp; Risk Distribution</a:t>
            </a:r>
          </a:p>
        </p:txBody>
      </p:sp>
      <p:pic>
        <p:nvPicPr>
          <p:cNvPr id="20" name="Picture 19" descr="image.png"/>
          <p:cNvPicPr>
            <a:picLocks noChangeAspect="1"/>
          </p:cNvPicPr>
          <p:nvPr/>
        </p:nvPicPr>
        <p:blipFill>
          <a:blip r:embed="rId10"/>
          <a:stretch>
            <a:fillRect/>
          </a:stretch>
        </p:blipFill>
        <p:spPr>
          <a:xfrm>
            <a:off x="676275" y="2330648"/>
            <a:ext cx="219075" cy="171450"/>
          </a:xfrm>
          <a:prstGeom prst="rect">
            <a:avLst/>
          </a:prstGeom>
        </p:spPr>
      </p:pic>
      <p:sp>
        <p:nvSpPr>
          <p:cNvPr id="21" name="TextBox 20"/>
          <p:cNvSpPr txBox="1"/>
          <p:nvPr/>
        </p:nvSpPr>
        <p:spPr>
          <a:xfrm>
            <a:off x="790575" y="263782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2" name="TextBox 21"/>
          <p:cNvSpPr txBox="1"/>
          <p:nvPr/>
        </p:nvSpPr>
        <p:spPr>
          <a:xfrm>
            <a:off x="847725" y="2640210"/>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Age Cohort SIP Activity:</a:t>
            </a:r>
            <a:r>
              <a:rPr sz="1125" b="0" i="0" u="none">
                <a:solidFill>
                  <a:srgbClr val="222222"/>
                </a:solidFill>
                <a:latin typeface="Open Sans"/>
              </a:rPr>
              <a:t> Investors aged 30-45 exhibit highest average monthly SIP commitments and longest holding tenure.</a:t>
            </a:r>
          </a:p>
        </p:txBody>
      </p:sp>
      <p:sp>
        <p:nvSpPr>
          <p:cNvPr id="23" name="TextBox 22"/>
          <p:cNvSpPr txBox="1"/>
          <p:nvPr/>
        </p:nvSpPr>
        <p:spPr>
          <a:xfrm>
            <a:off x="790575" y="314265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4" name="TextBox 23"/>
          <p:cNvSpPr txBox="1"/>
          <p:nvPr/>
        </p:nvSpPr>
        <p:spPr>
          <a:xfrm>
            <a:off x="847725" y="3145035"/>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Geographic Spread:</a:t>
            </a:r>
            <a:r>
              <a:rPr sz="1125" b="0" i="0" u="none">
                <a:solidFill>
                  <a:srgbClr val="222222"/>
                </a:solidFill>
                <a:latin typeface="Open Sans"/>
              </a:rPr>
              <a:t> Maharashtra, Gujarat, and Karnataka lead total investment transaction volumes.</a:t>
            </a:r>
          </a:p>
        </p:txBody>
      </p:sp>
      <p:sp>
        <p:nvSpPr>
          <p:cNvPr id="25" name="TextBox 24"/>
          <p:cNvSpPr txBox="1"/>
          <p:nvPr/>
        </p:nvSpPr>
        <p:spPr>
          <a:xfrm>
            <a:off x="790575" y="364747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6" name="TextBox 25"/>
          <p:cNvSpPr txBox="1"/>
          <p:nvPr/>
        </p:nvSpPr>
        <p:spPr>
          <a:xfrm>
            <a:off x="847725" y="3649860"/>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Transaction Split:</a:t>
            </a:r>
            <a:r>
              <a:rPr sz="1125" b="0" i="0" u="none">
                <a:solidFill>
                  <a:srgbClr val="222222"/>
                </a:solidFill>
                <a:latin typeface="Open Sans"/>
              </a:rPr>
              <a:t> Systematic Investments (SIPs) constitute ~60.1% of all recorded transaction counts.</a:t>
            </a:r>
          </a:p>
        </p:txBody>
      </p:sp>
      <p:pic>
        <p:nvPicPr>
          <p:cNvPr id="27" name="Picture 26" descr="image.png"/>
          <p:cNvPicPr>
            <a:picLocks noChangeAspect="1"/>
          </p:cNvPicPr>
          <p:nvPr/>
        </p:nvPicPr>
        <p:blipFill>
          <a:blip r:embed="rId11"/>
          <a:stretch>
            <a:fillRect/>
          </a:stretch>
        </p:blipFill>
        <p:spPr>
          <a:xfrm>
            <a:off x="6410325" y="2330648"/>
            <a:ext cx="171450" cy="171450"/>
          </a:xfrm>
          <a:prstGeom prst="rect">
            <a:avLst/>
          </a:prstGeom>
        </p:spPr>
      </p:pic>
      <p:sp>
        <p:nvSpPr>
          <p:cNvPr id="28" name="TextBox 27"/>
          <p:cNvSpPr txBox="1"/>
          <p:nvPr/>
        </p:nvSpPr>
        <p:spPr>
          <a:xfrm>
            <a:off x="6524625" y="263782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9" name="TextBox 28"/>
          <p:cNvSpPr txBox="1"/>
          <p:nvPr/>
        </p:nvSpPr>
        <p:spPr>
          <a:xfrm>
            <a:off x="6581775" y="2640210"/>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Sector Concentration:</a:t>
            </a:r>
            <a:r>
              <a:rPr sz="1125" b="0" i="0" u="none">
                <a:solidFill>
                  <a:srgbClr val="222222"/>
                </a:solidFill>
                <a:latin typeface="Open Sans"/>
              </a:rPr>
              <a:t> Financial Services, IT, and Capital Goods dominate top scheme holdings.</a:t>
            </a:r>
          </a:p>
        </p:txBody>
      </p:sp>
      <p:sp>
        <p:nvSpPr>
          <p:cNvPr id="30" name="TextBox 29"/>
          <p:cNvSpPr txBox="1"/>
          <p:nvPr/>
        </p:nvSpPr>
        <p:spPr>
          <a:xfrm>
            <a:off x="6524625" y="314265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31" name="TextBox 30"/>
          <p:cNvSpPr txBox="1"/>
          <p:nvPr/>
        </p:nvSpPr>
        <p:spPr>
          <a:xfrm>
            <a:off x="6581775" y="3145035"/>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Return vs Risk Divergence:</a:t>
            </a:r>
            <a:r>
              <a:rPr sz="1125" b="0" i="0" u="none">
                <a:solidFill>
                  <a:srgbClr val="222222"/>
                </a:solidFill>
                <a:latin typeface="Open Sans"/>
              </a:rPr>
              <a:t> Small-Cap funds offer elevated CAGR but display higher standard deviation and downside risk.</a:t>
            </a:r>
          </a:p>
        </p:txBody>
      </p:sp>
      <p:sp>
        <p:nvSpPr>
          <p:cNvPr id="32" name="TextBox 31"/>
          <p:cNvSpPr txBox="1"/>
          <p:nvPr/>
        </p:nvSpPr>
        <p:spPr>
          <a:xfrm>
            <a:off x="6524625" y="364747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33" name="TextBox 32"/>
          <p:cNvSpPr txBox="1"/>
          <p:nvPr/>
        </p:nvSpPr>
        <p:spPr>
          <a:xfrm>
            <a:off x="6581775" y="3649860"/>
            <a:ext cx="4933950" cy="428625"/>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Net Inflow Winners:</a:t>
            </a:r>
            <a:r>
              <a:rPr sz="1125" b="0" i="0" u="none">
                <a:solidFill>
                  <a:srgbClr val="222222"/>
                </a:solidFill>
                <a:latin typeface="Open Sans"/>
              </a:rPr>
              <a:t> Mid-Cap and Multi-Cap categories show strongest quarterly inflow retention.</a:t>
            </a:r>
          </a:p>
        </p:txBody>
      </p:sp>
      <p:sp>
        <p:nvSpPr>
          <p:cNvPr id="34" name="TextBox 33"/>
          <p:cNvSpPr txBox="1"/>
          <p:nvPr/>
        </p:nvSpPr>
        <p:spPr>
          <a:xfrm>
            <a:off x="476250" y="419100"/>
            <a:ext cx="7438523" cy="365670"/>
          </a:xfrm>
          <a:prstGeom prst="rect">
            <a:avLst/>
          </a:prstGeom>
          <a:noFill/>
        </p:spPr>
        <p:txBody>
          <a:bodyPr wrap="square" lIns="0" tIns="0" rIns="0" bIns="0" anchor="ctr">
            <a:spAutoFit/>
          </a:bodyPr>
          <a:lstStyle/>
          <a:p>
            <a:pPr algn="l">
              <a:lnSpc>
                <a:spcPts val="2879"/>
              </a:lnSpc>
            </a:pPr>
            <a:r>
              <a:rPr sz="2400" b="1" i="0" u="none">
                <a:solidFill>
                  <a:srgbClr val="190482"/>
                </a:solidFill>
                <a:latin typeface="Open Sans"/>
              </a:rPr>
              <a:t>EDA — Investor Demographics &amp; Fund Risk</a:t>
            </a:r>
          </a:p>
        </p:txBody>
      </p:sp>
      <p:sp>
        <p:nvSpPr>
          <p:cNvPr id="35" name="Rounded Rectangle 34"/>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6BA9E949-DB03-DB8D-7117-167287DC5150}"/>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41" name="Picture 40">
            <a:extLst>
              <a:ext uri="{FF2B5EF4-FFF2-40B4-BE49-F238E27FC236}">
                <a16:creationId xmlns:a16="http://schemas.microsoft.com/office/drawing/2014/main" id="{F8C00A11-24CA-58D1-2B25-A62F8D7AB46F}"/>
              </a:ext>
            </a:extLst>
          </p:cNvPr>
          <p:cNvPicPr>
            <a:picLocks noChangeAspect="1"/>
          </p:cNvPicPr>
          <p:nvPr/>
        </p:nvPicPr>
        <p:blipFill>
          <a:blip r:embed="rId12">
            <a:extLst>
              <a:ext uri="{BEBA8EAE-BF5A-486C-A8C5-ECC9F3942E4B}">
                <a14:imgProps xmlns:a14="http://schemas.microsoft.com/office/drawing/2010/main">
                  <a14:imgLayer r:embed="rId13">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11239500" cy="433387"/>
          </a:xfrm>
          <a:prstGeom prst="rect">
            <a:avLst/>
          </a:prstGeom>
        </p:spPr>
      </p:pic>
      <p:pic>
        <p:nvPicPr>
          <p:cNvPr id="5" name="Picture 4" descr="image.png"/>
          <p:cNvPicPr>
            <a:picLocks noChangeAspect="1"/>
          </p:cNvPicPr>
          <p:nvPr/>
        </p:nvPicPr>
        <p:blipFill>
          <a:blip r:embed="rId4"/>
          <a:stretch>
            <a:fillRect/>
          </a:stretch>
        </p:blipFill>
        <p:spPr>
          <a:xfrm>
            <a:off x="476250" y="1599158"/>
            <a:ext cx="5505450" cy="2819400"/>
          </a:xfrm>
          <a:prstGeom prst="rect">
            <a:avLst/>
          </a:prstGeom>
        </p:spPr>
      </p:pic>
      <p:pic>
        <p:nvPicPr>
          <p:cNvPr id="6" name="Picture 5" descr="image.png"/>
          <p:cNvPicPr>
            <a:picLocks noChangeAspect="1"/>
          </p:cNvPicPr>
          <p:nvPr/>
        </p:nvPicPr>
        <p:blipFill>
          <a:blip r:embed="rId5"/>
          <a:stretch>
            <a:fillRect/>
          </a:stretch>
        </p:blipFill>
        <p:spPr>
          <a:xfrm>
            <a:off x="6210300" y="1599158"/>
            <a:ext cx="5505450" cy="2819400"/>
          </a:xfrm>
          <a:prstGeom prst="rect">
            <a:avLst/>
          </a:prstGeom>
        </p:spPr>
      </p:pic>
      <p:pic>
        <p:nvPicPr>
          <p:cNvPr id="7" name="Picture 6" descr="image.png"/>
          <p:cNvPicPr>
            <a:picLocks noChangeAspect="1"/>
          </p:cNvPicPr>
          <p:nvPr/>
        </p:nvPicPr>
        <p:blipFill>
          <a:blip r:embed="rId6"/>
          <a:stretch>
            <a:fillRect/>
          </a:stretch>
        </p:blipFill>
        <p:spPr>
          <a:xfrm>
            <a:off x="7322343" y="495300"/>
            <a:ext cx="2100262" cy="213270"/>
          </a:xfrm>
          <a:prstGeom prst="rect">
            <a:avLst/>
          </a:prstGeom>
        </p:spPr>
      </p:pic>
      <p:sp>
        <p:nvSpPr>
          <p:cNvPr id="8" name="TextBox 7"/>
          <p:cNvSpPr txBox="1"/>
          <p:nvPr/>
        </p:nvSpPr>
        <p:spPr>
          <a:xfrm>
            <a:off x="657225" y="1137195"/>
            <a:ext cx="10877550" cy="176523"/>
          </a:xfrm>
          <a:prstGeom prst="rect">
            <a:avLst/>
          </a:prstGeom>
          <a:noFill/>
        </p:spPr>
        <p:txBody>
          <a:bodyPr wrap="square" lIns="219075" tIns="0" rIns="0" bIns="0" anchor="t">
            <a:spAutoFit/>
          </a:bodyPr>
          <a:lstStyle/>
          <a:p>
            <a:pPr algn="l">
              <a:lnSpc>
                <a:spcPts val="1462"/>
              </a:lnSpc>
            </a:pPr>
            <a:r>
              <a:rPr sz="975" b="0" i="0" u="none" dirty="0">
                <a:solidFill>
                  <a:srgbClr val="190482"/>
                </a:solidFill>
                <a:latin typeface="Open Sans SemiBold"/>
              </a:rPr>
              <a:t>Calculation Methodology</a:t>
            </a:r>
            <a:r>
              <a:rPr lang="en-US" sz="975" b="0" i="0" u="none" dirty="0">
                <a:solidFill>
                  <a:srgbClr val="190482"/>
                </a:solidFill>
                <a:latin typeface="Open Sans SemiBold"/>
              </a:rPr>
              <a:t> </a:t>
            </a:r>
            <a:r>
              <a:rPr sz="975" b="0" i="0" u="none" dirty="0">
                <a:solidFill>
                  <a:srgbClr val="190482"/>
                </a:solidFill>
                <a:latin typeface="Open Sans SemiBold"/>
              </a:rPr>
              <a:t>: Daily Returns </a:t>
            </a:r>
            <a:r>
              <a:rPr lang="en-US" sz="975" b="0" i="0" u="none" dirty="0">
                <a:solidFill>
                  <a:srgbClr val="190482"/>
                </a:solidFill>
                <a:latin typeface="Open Sans SemiBold"/>
              </a:rPr>
              <a:t>      </a:t>
            </a:r>
            <a:r>
              <a:rPr sz="975" b="0" i="0" u="none" dirty="0">
                <a:solidFill>
                  <a:srgbClr val="190482"/>
                </a:solidFill>
                <a:latin typeface="Open Sans SemiBold"/>
              </a:rPr>
              <a:t>CAGR</a:t>
            </a:r>
            <a:r>
              <a:rPr lang="en-US" sz="975" b="0" i="0" u="none" dirty="0">
                <a:solidFill>
                  <a:srgbClr val="190482"/>
                </a:solidFill>
                <a:latin typeface="Open Sans SemiBold"/>
              </a:rPr>
              <a:t> </a:t>
            </a:r>
            <a:r>
              <a:rPr sz="975" b="0" i="0" u="none" dirty="0">
                <a:solidFill>
                  <a:srgbClr val="190482"/>
                </a:solidFill>
                <a:latin typeface="Open Sans SemiBold"/>
              </a:rPr>
              <a:t> </a:t>
            </a:r>
            <a:r>
              <a:rPr lang="en-US" sz="975" b="0" i="0" u="none" dirty="0">
                <a:solidFill>
                  <a:srgbClr val="190482"/>
                </a:solidFill>
                <a:latin typeface="Open Sans SemiBold"/>
              </a:rPr>
              <a:t>     </a:t>
            </a:r>
            <a:r>
              <a:rPr sz="975" b="0" i="0" u="none" dirty="0">
                <a:solidFill>
                  <a:srgbClr val="190482"/>
                </a:solidFill>
                <a:latin typeface="Open Sans SemiBold"/>
              </a:rPr>
              <a:t>Sharpe Ratio </a:t>
            </a:r>
            <a:r>
              <a:rPr lang="en-US" sz="975" b="0" i="0" u="none" dirty="0">
                <a:solidFill>
                  <a:srgbClr val="190482"/>
                </a:solidFill>
                <a:latin typeface="Open Sans SemiBold"/>
              </a:rPr>
              <a:t>       </a:t>
            </a:r>
            <a:r>
              <a:rPr sz="975" b="0" i="0" u="none" dirty="0">
                <a:solidFill>
                  <a:srgbClr val="190482"/>
                </a:solidFill>
                <a:latin typeface="Open Sans SemiBold"/>
              </a:rPr>
              <a:t>Sortino</a:t>
            </a:r>
            <a:r>
              <a:rPr lang="en-US" sz="975" b="0" i="0" u="none" dirty="0">
                <a:solidFill>
                  <a:srgbClr val="190482"/>
                </a:solidFill>
                <a:latin typeface="Open Sans SemiBold"/>
              </a:rPr>
              <a:t> </a:t>
            </a:r>
            <a:r>
              <a:rPr sz="975" b="0" i="0" u="none" dirty="0">
                <a:solidFill>
                  <a:srgbClr val="190482"/>
                </a:solidFill>
                <a:latin typeface="Open Sans SemiBold"/>
              </a:rPr>
              <a:t>Ratio Max </a:t>
            </a:r>
            <a:r>
              <a:rPr lang="en-US" sz="975" b="0" i="0" u="none" dirty="0">
                <a:solidFill>
                  <a:srgbClr val="190482"/>
                </a:solidFill>
                <a:latin typeface="Open Sans SemiBold"/>
              </a:rPr>
              <a:t>      </a:t>
            </a:r>
            <a:r>
              <a:rPr sz="975" b="0" i="0" u="none" dirty="0">
                <a:solidFill>
                  <a:srgbClr val="190482"/>
                </a:solidFill>
                <a:latin typeface="Open Sans SemiBold"/>
              </a:rPr>
              <a:t>Drawdown</a:t>
            </a:r>
          </a:p>
        </p:txBody>
      </p:sp>
      <p:pic>
        <p:nvPicPr>
          <p:cNvPr id="10" name="Picture 9" descr="image.png"/>
          <p:cNvPicPr>
            <a:picLocks noChangeAspect="1"/>
          </p:cNvPicPr>
          <p:nvPr/>
        </p:nvPicPr>
        <p:blipFill>
          <a:blip r:embed="rId7"/>
          <a:stretch>
            <a:fillRect/>
          </a:stretch>
        </p:blipFill>
        <p:spPr>
          <a:xfrm>
            <a:off x="3315081" y="1174914"/>
            <a:ext cx="104775" cy="123825"/>
          </a:xfrm>
          <a:prstGeom prst="rect">
            <a:avLst/>
          </a:prstGeom>
        </p:spPr>
      </p:pic>
      <p:pic>
        <p:nvPicPr>
          <p:cNvPr id="11" name="Picture 10" descr="image.png"/>
          <p:cNvPicPr>
            <a:picLocks noChangeAspect="1"/>
          </p:cNvPicPr>
          <p:nvPr/>
        </p:nvPicPr>
        <p:blipFill>
          <a:blip r:embed="rId7"/>
          <a:stretch>
            <a:fillRect/>
          </a:stretch>
        </p:blipFill>
        <p:spPr>
          <a:xfrm>
            <a:off x="3878580" y="1174914"/>
            <a:ext cx="104775" cy="123825"/>
          </a:xfrm>
          <a:prstGeom prst="rect">
            <a:avLst/>
          </a:prstGeom>
        </p:spPr>
      </p:pic>
      <p:pic>
        <p:nvPicPr>
          <p:cNvPr id="12" name="Picture 11" descr="image.png"/>
          <p:cNvPicPr>
            <a:picLocks noChangeAspect="1"/>
          </p:cNvPicPr>
          <p:nvPr/>
        </p:nvPicPr>
        <p:blipFill>
          <a:blip r:embed="rId7"/>
          <a:stretch>
            <a:fillRect/>
          </a:stretch>
        </p:blipFill>
        <p:spPr>
          <a:xfrm>
            <a:off x="4871085" y="1184058"/>
            <a:ext cx="104775" cy="123825"/>
          </a:xfrm>
          <a:prstGeom prst="rect">
            <a:avLst/>
          </a:prstGeom>
        </p:spPr>
      </p:pic>
      <p:pic>
        <p:nvPicPr>
          <p:cNvPr id="13" name="Picture 12" descr="image.png"/>
          <p:cNvPicPr>
            <a:picLocks noChangeAspect="1"/>
          </p:cNvPicPr>
          <p:nvPr/>
        </p:nvPicPr>
        <p:blipFill>
          <a:blip r:embed="rId7"/>
          <a:stretch>
            <a:fillRect/>
          </a:stretch>
        </p:blipFill>
        <p:spPr>
          <a:xfrm>
            <a:off x="6184392" y="1184058"/>
            <a:ext cx="104775" cy="123825"/>
          </a:xfrm>
          <a:prstGeom prst="rect">
            <a:avLst/>
          </a:prstGeom>
        </p:spPr>
      </p:pic>
      <p:sp>
        <p:nvSpPr>
          <p:cNvPr id="14" name="TextBox 13"/>
          <p:cNvSpPr txBox="1"/>
          <p:nvPr/>
        </p:nvSpPr>
        <p:spPr>
          <a:xfrm>
            <a:off x="876300" y="1742033"/>
            <a:ext cx="4962525" cy="219075"/>
          </a:xfrm>
          <a:prstGeom prst="rect">
            <a:avLst/>
          </a:prstGeom>
          <a:noFill/>
        </p:spPr>
        <p:txBody>
          <a:bodyPr wrap="square" lIns="0" tIns="0" rIns="0" bIns="0" anchor="ctr">
            <a:spAutoFit/>
          </a:bodyPr>
          <a:lstStyle/>
          <a:p>
            <a:pPr algn="l"/>
            <a:r>
              <a:rPr sz="1125" b="0" i="0" u="none">
                <a:solidFill>
                  <a:srgbClr val="190482"/>
                </a:solidFill>
                <a:latin typeface="Poppins SemiBold"/>
              </a:rPr>
              <a:t>Top 3-Year Annualized CAGR</a:t>
            </a:r>
          </a:p>
        </p:txBody>
      </p:sp>
      <p:sp>
        <p:nvSpPr>
          <p:cNvPr id="15" name="Rounded Rectangle 14"/>
          <p:cNvSpPr/>
          <p:nvPr/>
        </p:nvSpPr>
        <p:spPr>
          <a:xfrm>
            <a:off x="619125" y="2056358"/>
            <a:ext cx="5219700" cy="14859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619125" y="2056358"/>
          <a:ext cx="5200648" cy="1485900"/>
        </p:xfrm>
        <a:graphic>
          <a:graphicData uri="http://schemas.openxmlformats.org/drawingml/2006/table">
            <a:tbl>
              <a:tblPr firstRow="1" bandRow="1">
                <a:tableStyleId>{5C22544A-7EE6-4342-B048-85BDC9FD1C3A}</a:tableStyleId>
              </a:tblPr>
              <a:tblGrid>
                <a:gridCol w="1577726">
                  <a:extLst>
                    <a:ext uri="{9D8B030D-6E8A-4147-A177-3AD203B41FA5}">
                      <a16:colId xmlns:a16="http://schemas.microsoft.com/office/drawing/2014/main" val="20000"/>
                    </a:ext>
                  </a:extLst>
                </a:gridCol>
                <a:gridCol w="1502122">
                  <a:extLst>
                    <a:ext uri="{9D8B030D-6E8A-4147-A177-3AD203B41FA5}">
                      <a16:colId xmlns:a16="http://schemas.microsoft.com/office/drawing/2014/main" val="20001"/>
                    </a:ext>
                  </a:extLst>
                </a:gridCol>
                <a:gridCol w="2120800">
                  <a:extLst>
                    <a:ext uri="{9D8B030D-6E8A-4147-A177-3AD203B41FA5}">
                      <a16:colId xmlns:a16="http://schemas.microsoft.com/office/drawing/2014/main" val="20002"/>
                    </a:ext>
                  </a:extLst>
                </a:gridCol>
              </a:tblGrid>
              <a:tr h="371475">
                <a:tc>
                  <a:txBody>
                    <a:bodyPr/>
                    <a:lstStyle/>
                    <a:p>
                      <a:pPr algn="l"/>
                      <a:r>
                        <a:rPr sz="975" b="0" i="0" u="none">
                          <a:solidFill>
                            <a:srgbClr val="FFFFFF"/>
                          </a:solidFill>
                          <a:latin typeface="Poppins SemiBold"/>
                        </a:rPr>
                        <a:t>Scheme Code</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3-Year CAGR</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Performance Grade</a:t>
                      </a:r>
                    </a:p>
                  </a:txBody>
                  <a:tcPr marL="63500" marR="63500" marT="25400" marB="25400" anchor="ctr">
                    <a:lnL>
                      <a:noFill/>
                    </a:lnL>
                    <a:lnR>
                      <a:noFill/>
                    </a:lnR>
                    <a:lnT>
                      <a:noFill/>
                    </a:lnT>
                    <a:lnB>
                      <a:noFill/>
                    </a:lnB>
                    <a:solidFill>
                      <a:srgbClr val="190482"/>
                    </a:solidFill>
                  </a:tcPr>
                </a:tc>
                <a:extLst>
                  <a:ext uri="{0D108BD9-81ED-4DB2-BD59-A6C34878D82A}">
                    <a16:rowId xmlns:a16="http://schemas.microsoft.com/office/drawing/2014/main" val="10000"/>
                  </a:ext>
                </a:extLst>
              </a:tr>
              <a:tr h="371475">
                <a:tc>
                  <a:txBody>
                    <a:bodyPr/>
                    <a:lstStyle/>
                    <a:p>
                      <a:pPr algn="l"/>
                      <a:r>
                        <a:rPr sz="975" b="1" i="0" u="none">
                          <a:solidFill>
                            <a:srgbClr val="222222"/>
                          </a:solidFill>
                          <a:latin typeface="Open Sans"/>
                        </a:rPr>
                        <a:t>119094</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35.11%</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Exceptional</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371475">
                <a:tc>
                  <a:txBody>
                    <a:bodyPr/>
                    <a:lstStyle/>
                    <a:p>
                      <a:pPr algn="l"/>
                      <a:r>
                        <a:rPr sz="975" b="1" i="0" u="none">
                          <a:solidFill>
                            <a:srgbClr val="222222"/>
                          </a:solidFill>
                          <a:latin typeface="Open Sans"/>
                        </a:rPr>
                        <a:t>148567</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34.00%</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222222"/>
                          </a:solidFill>
                          <a:latin typeface="Open Sans"/>
                        </a:rPr>
                        <a:t>Outperformer</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371475">
                <a:tc>
                  <a:txBody>
                    <a:bodyPr/>
                    <a:lstStyle/>
                    <a:p>
                      <a:pPr algn="l"/>
                      <a:r>
                        <a:rPr sz="975" b="1" i="0" u="none">
                          <a:solidFill>
                            <a:srgbClr val="222222"/>
                          </a:solidFill>
                          <a:latin typeface="Open Sans"/>
                        </a:rPr>
                        <a:t>120504</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32.49%</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Outperformer</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6629400" y="1742033"/>
            <a:ext cx="4943475" cy="219075"/>
          </a:xfrm>
          <a:prstGeom prst="rect">
            <a:avLst/>
          </a:prstGeom>
          <a:noFill/>
        </p:spPr>
        <p:txBody>
          <a:bodyPr wrap="square" lIns="0" tIns="0" rIns="0" bIns="0" anchor="ctr">
            <a:spAutoFit/>
          </a:bodyPr>
          <a:lstStyle/>
          <a:p>
            <a:pPr algn="l"/>
            <a:r>
              <a:rPr sz="1125" b="0" i="0" u="none">
                <a:solidFill>
                  <a:srgbClr val="190482"/>
                </a:solidFill>
                <a:latin typeface="Poppins SemiBold"/>
              </a:rPr>
              <a:t>Risk-Adjusted Ratios</a:t>
            </a:r>
          </a:p>
        </p:txBody>
      </p:sp>
      <p:sp>
        <p:nvSpPr>
          <p:cNvPr id="18" name="Rounded Rectangle 17"/>
          <p:cNvSpPr/>
          <p:nvPr/>
        </p:nvSpPr>
        <p:spPr>
          <a:xfrm>
            <a:off x="6353175" y="2056358"/>
            <a:ext cx="5219700" cy="22193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9" name="Table 18"/>
          <p:cNvGraphicFramePr>
            <a:graphicFrameLocks noGrp="1"/>
          </p:cNvGraphicFramePr>
          <p:nvPr/>
        </p:nvGraphicFramePr>
        <p:xfrm>
          <a:off x="6353175" y="2056358"/>
          <a:ext cx="5200648" cy="2219325"/>
        </p:xfrm>
        <a:graphic>
          <a:graphicData uri="http://schemas.openxmlformats.org/drawingml/2006/table">
            <a:tbl>
              <a:tblPr firstRow="1" bandRow="1">
                <a:tableStyleId>{5C22544A-7EE6-4342-B048-85BDC9FD1C3A}</a:tableStyleId>
              </a:tblPr>
              <a:tblGrid>
                <a:gridCol w="1776114">
                  <a:extLst>
                    <a:ext uri="{9D8B030D-6E8A-4147-A177-3AD203B41FA5}">
                      <a16:colId xmlns:a16="http://schemas.microsoft.com/office/drawing/2014/main" val="20000"/>
                    </a:ext>
                  </a:extLst>
                </a:gridCol>
                <a:gridCol w="1705123">
                  <a:extLst>
                    <a:ext uri="{9D8B030D-6E8A-4147-A177-3AD203B41FA5}">
                      <a16:colId xmlns:a16="http://schemas.microsoft.com/office/drawing/2014/main" val="20001"/>
                    </a:ext>
                  </a:extLst>
                </a:gridCol>
                <a:gridCol w="1719411">
                  <a:extLst>
                    <a:ext uri="{9D8B030D-6E8A-4147-A177-3AD203B41FA5}">
                      <a16:colId xmlns:a16="http://schemas.microsoft.com/office/drawing/2014/main" val="20002"/>
                    </a:ext>
                  </a:extLst>
                </a:gridCol>
              </a:tblGrid>
              <a:tr h="369887">
                <a:tc>
                  <a:txBody>
                    <a:bodyPr/>
                    <a:lstStyle/>
                    <a:p>
                      <a:pPr algn="l"/>
                      <a:r>
                        <a:rPr sz="975" b="0" i="0" u="none">
                          <a:solidFill>
                            <a:srgbClr val="FFFFFF"/>
                          </a:solidFill>
                          <a:latin typeface="Poppins SemiBold"/>
                        </a:rPr>
                        <a:t>Scheme Code</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Sharpe Ratio</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Sortino Ratio</a:t>
                      </a:r>
                    </a:p>
                  </a:txBody>
                  <a:tcPr marL="63500" marR="63500" marT="25400" marB="25400" anchor="ctr">
                    <a:lnL>
                      <a:noFill/>
                    </a:lnL>
                    <a:lnR>
                      <a:noFill/>
                    </a:lnR>
                    <a:lnT>
                      <a:noFill/>
                    </a:lnT>
                    <a:lnB>
                      <a:noFill/>
                    </a:lnB>
                    <a:solidFill>
                      <a:srgbClr val="190482"/>
                    </a:solidFill>
                  </a:tcPr>
                </a:tc>
                <a:extLst>
                  <a:ext uri="{0D108BD9-81ED-4DB2-BD59-A6C34878D82A}">
                    <a16:rowId xmlns:a16="http://schemas.microsoft.com/office/drawing/2014/main" val="10000"/>
                  </a:ext>
                </a:extLst>
              </a:tr>
              <a:tr h="369887">
                <a:tc>
                  <a:txBody>
                    <a:bodyPr/>
                    <a:lstStyle/>
                    <a:p>
                      <a:pPr algn="l"/>
                      <a:r>
                        <a:rPr sz="975" b="1" i="0" u="none">
                          <a:solidFill>
                            <a:srgbClr val="222222"/>
                          </a:solidFill>
                          <a:latin typeface="Open Sans"/>
                        </a:rPr>
                        <a:t>148567</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1.4483</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2.3856</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369887">
                <a:tc>
                  <a:txBody>
                    <a:bodyPr/>
                    <a:lstStyle/>
                    <a:p>
                      <a:pPr algn="l"/>
                      <a:r>
                        <a:rPr sz="975" b="1" i="0" u="none">
                          <a:solidFill>
                            <a:srgbClr val="222222"/>
                          </a:solidFill>
                          <a:latin typeface="Open Sans"/>
                        </a:rPr>
                        <a:t>120843</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1.3067</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2.3643</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369887">
                <a:tc>
                  <a:txBody>
                    <a:bodyPr/>
                    <a:lstStyle/>
                    <a:p>
                      <a:pPr algn="l"/>
                      <a:r>
                        <a:rPr sz="975" b="1" i="0" u="none">
                          <a:solidFill>
                            <a:srgbClr val="222222"/>
                          </a:solidFill>
                          <a:latin typeface="Open Sans"/>
                        </a:rPr>
                        <a:t>148569</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1.2349</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2.1469</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369887">
                <a:tc>
                  <a:txBody>
                    <a:bodyPr/>
                    <a:lstStyle/>
                    <a:p>
                      <a:pPr algn="l"/>
                      <a:r>
                        <a:rPr sz="975" b="1" i="0" u="none">
                          <a:solidFill>
                            <a:srgbClr val="222222"/>
                          </a:solidFill>
                          <a:latin typeface="Open Sans"/>
                        </a:rPr>
                        <a:t>119551</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222222"/>
                          </a:solidFill>
                          <a:latin typeface="Open Sans"/>
                        </a:rPr>
                        <a:t>1.2083</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222222"/>
                          </a:solidFill>
                          <a:latin typeface="Open Sans"/>
                        </a:rPr>
                        <a:t>1.9840</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369890">
                <a:tc>
                  <a:txBody>
                    <a:bodyPr/>
                    <a:lstStyle/>
                    <a:p>
                      <a:pPr algn="l"/>
                      <a:r>
                        <a:rPr sz="975" b="1" i="0" u="none">
                          <a:solidFill>
                            <a:srgbClr val="222222"/>
                          </a:solidFill>
                          <a:latin typeface="Open Sans"/>
                        </a:rPr>
                        <a:t>120505</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1.1801</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1.9120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pic>
        <p:nvPicPr>
          <p:cNvPr id="20" name="Picture 19" descr="image.png"/>
          <p:cNvPicPr>
            <a:picLocks noChangeAspect="1"/>
          </p:cNvPicPr>
          <p:nvPr/>
        </p:nvPicPr>
        <p:blipFill>
          <a:blip r:embed="rId8"/>
          <a:stretch>
            <a:fillRect/>
          </a:stretch>
        </p:blipFill>
        <p:spPr>
          <a:xfrm>
            <a:off x="619125" y="1780133"/>
            <a:ext cx="161925" cy="142875"/>
          </a:xfrm>
          <a:prstGeom prst="rect">
            <a:avLst/>
          </a:prstGeom>
        </p:spPr>
      </p:pic>
      <p:pic>
        <p:nvPicPr>
          <p:cNvPr id="21" name="Picture 20" descr="image.png"/>
          <p:cNvPicPr>
            <a:picLocks noChangeAspect="1"/>
          </p:cNvPicPr>
          <p:nvPr/>
        </p:nvPicPr>
        <p:blipFill>
          <a:blip r:embed="rId9"/>
          <a:stretch>
            <a:fillRect/>
          </a:stretch>
        </p:blipFill>
        <p:spPr>
          <a:xfrm>
            <a:off x="6353175" y="1780133"/>
            <a:ext cx="180975" cy="142875"/>
          </a:xfrm>
          <a:prstGeom prst="rect">
            <a:avLst/>
          </a:prstGeom>
        </p:spPr>
      </p:pic>
      <p:sp>
        <p:nvSpPr>
          <p:cNvPr id="22" name="Rectangle 21"/>
          <p:cNvSpPr/>
          <p:nvPr/>
        </p:nvSpPr>
        <p:spPr>
          <a:xfrm>
            <a:off x="628650" y="2799308"/>
            <a:ext cx="157772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2206376" y="2799308"/>
            <a:ext cx="15021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708499" y="2799308"/>
            <a:ext cx="2120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28650" y="3166020"/>
            <a:ext cx="1577726"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206376" y="3166020"/>
            <a:ext cx="150212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708499" y="3166020"/>
            <a:ext cx="2120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362700" y="2799308"/>
            <a:ext cx="17761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8138814" y="2799308"/>
            <a:ext cx="1705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9843938" y="2799308"/>
            <a:ext cx="17194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362700" y="3166020"/>
            <a:ext cx="17761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138814" y="3166020"/>
            <a:ext cx="1705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843938" y="3166020"/>
            <a:ext cx="17194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362700" y="3532733"/>
            <a:ext cx="17761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138814" y="3532733"/>
            <a:ext cx="1705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843938" y="3532733"/>
            <a:ext cx="17194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362700" y="3899445"/>
            <a:ext cx="1776114"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138814" y="3899445"/>
            <a:ext cx="1705123"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843938" y="3899445"/>
            <a:ext cx="171941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76250" y="419100"/>
            <a:ext cx="9367688" cy="365670"/>
          </a:xfrm>
          <a:prstGeom prst="rect">
            <a:avLst/>
          </a:prstGeom>
          <a:noFill/>
        </p:spPr>
        <p:txBody>
          <a:bodyPr wrap="square" lIns="0" tIns="0" rIns="0" bIns="0" anchor="ctr">
            <a:spAutoFit/>
          </a:bodyPr>
          <a:lstStyle/>
          <a:p>
            <a:pPr algn="l">
              <a:lnSpc>
                <a:spcPts val="2879"/>
              </a:lnSpc>
            </a:pPr>
            <a:r>
              <a:rPr sz="2400" b="1" i="0" u="none">
                <a:solidFill>
                  <a:srgbClr val="190482"/>
                </a:solidFill>
                <a:latin typeface="Open Sans"/>
              </a:rPr>
              <a:t>Fund Performance &amp; Risk Analysis</a:t>
            </a:r>
          </a:p>
        </p:txBody>
      </p:sp>
      <p:sp>
        <p:nvSpPr>
          <p:cNvPr id="41" name="Rounded Rectangle 40"/>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a:extLst>
              <a:ext uri="{FF2B5EF4-FFF2-40B4-BE49-F238E27FC236}">
                <a16:creationId xmlns:a16="http://schemas.microsoft.com/office/drawing/2014/main" id="{3801163C-2112-B36B-4E00-93A138761AC3}"/>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9" name="TextBox 48">
            <a:extLst>
              <a:ext uri="{FF2B5EF4-FFF2-40B4-BE49-F238E27FC236}">
                <a16:creationId xmlns:a16="http://schemas.microsoft.com/office/drawing/2014/main" id="{1EC13498-5A76-DEC6-1117-8268E2A15D61}"/>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2804070"/>
            <a:ext cx="11239500" cy="2819400"/>
          </a:xfrm>
          <a:prstGeom prst="rect">
            <a:avLst/>
          </a:prstGeom>
        </p:spPr>
      </p:pic>
      <p:pic>
        <p:nvPicPr>
          <p:cNvPr id="4" name="Picture 3" descr="image.png"/>
          <p:cNvPicPr>
            <a:picLocks noChangeAspect="1"/>
          </p:cNvPicPr>
          <p:nvPr/>
        </p:nvPicPr>
        <p:blipFill>
          <a:blip r:embed="rId4"/>
          <a:stretch>
            <a:fillRect/>
          </a:stretch>
        </p:blipFill>
        <p:spPr>
          <a:xfrm>
            <a:off x="476250" y="1013370"/>
            <a:ext cx="5505450" cy="1638300"/>
          </a:xfrm>
          <a:prstGeom prst="rect">
            <a:avLst/>
          </a:prstGeom>
        </p:spPr>
      </p:pic>
      <p:pic>
        <p:nvPicPr>
          <p:cNvPr id="5" name="Picture 4" descr="image.png"/>
          <p:cNvPicPr>
            <a:picLocks noChangeAspect="1"/>
          </p:cNvPicPr>
          <p:nvPr/>
        </p:nvPicPr>
        <p:blipFill>
          <a:blip r:embed="rId5"/>
          <a:stretch>
            <a:fillRect/>
          </a:stretch>
        </p:blipFill>
        <p:spPr>
          <a:xfrm>
            <a:off x="6210300" y="1013370"/>
            <a:ext cx="5505450" cy="1638300"/>
          </a:xfrm>
          <a:prstGeom prst="rect">
            <a:avLst/>
          </a:prstGeom>
        </p:spPr>
      </p:pic>
      <p:pic>
        <p:nvPicPr>
          <p:cNvPr id="6" name="Picture 5" descr="image.png"/>
          <p:cNvPicPr>
            <a:picLocks noChangeAspect="1"/>
          </p:cNvPicPr>
          <p:nvPr/>
        </p:nvPicPr>
        <p:blipFill>
          <a:blip r:embed="rId6"/>
          <a:stretch>
            <a:fillRect/>
          </a:stretch>
        </p:blipFill>
        <p:spPr>
          <a:xfrm>
            <a:off x="7491074" y="512490"/>
            <a:ext cx="1876425" cy="213270"/>
          </a:xfrm>
          <a:prstGeom prst="rect">
            <a:avLst/>
          </a:prstGeom>
        </p:spPr>
      </p:pic>
      <p:sp>
        <p:nvSpPr>
          <p:cNvPr id="7" name="TextBox 6"/>
          <p:cNvSpPr txBox="1"/>
          <p:nvPr/>
        </p:nvSpPr>
        <p:spPr>
          <a:xfrm>
            <a:off x="857250" y="2946945"/>
            <a:ext cx="10715625" cy="219075"/>
          </a:xfrm>
          <a:prstGeom prst="rect">
            <a:avLst/>
          </a:prstGeom>
          <a:noFill/>
        </p:spPr>
        <p:txBody>
          <a:bodyPr wrap="square" lIns="0" tIns="0" rIns="0" bIns="0" anchor="ctr">
            <a:spAutoFit/>
          </a:bodyPr>
          <a:lstStyle/>
          <a:p>
            <a:pPr algn="l"/>
            <a:r>
              <a:rPr sz="1125" b="0" i="0" u="none">
                <a:solidFill>
                  <a:srgbClr val="190482"/>
                </a:solidFill>
                <a:latin typeface="Poppins SemiBold"/>
              </a:rPr>
              <a:t>Top Ranked Composite Funds</a:t>
            </a:r>
          </a:p>
        </p:txBody>
      </p:sp>
      <p:sp>
        <p:nvSpPr>
          <p:cNvPr id="8" name="Rounded Rectangle 7"/>
          <p:cNvSpPr/>
          <p:nvPr/>
        </p:nvSpPr>
        <p:spPr>
          <a:xfrm>
            <a:off x="619125" y="3261270"/>
            <a:ext cx="10953750" cy="22193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619125" y="3261270"/>
          <a:ext cx="10934698" cy="2219325"/>
        </p:xfrm>
        <a:graphic>
          <a:graphicData uri="http://schemas.openxmlformats.org/drawingml/2006/table">
            <a:tbl>
              <a:tblPr firstRow="1" bandRow="1">
                <a:tableStyleId>{5C22544A-7EE6-4342-B048-85BDC9FD1C3A}</a:tableStyleId>
              </a:tblPr>
              <a:tblGrid>
                <a:gridCol w="1256407">
                  <a:extLst>
                    <a:ext uri="{9D8B030D-6E8A-4147-A177-3AD203B41FA5}">
                      <a16:colId xmlns:a16="http://schemas.microsoft.com/office/drawing/2014/main" val="20000"/>
                    </a:ext>
                  </a:extLst>
                </a:gridCol>
                <a:gridCol w="4888110">
                  <a:extLst>
                    <a:ext uri="{9D8B030D-6E8A-4147-A177-3AD203B41FA5}">
                      <a16:colId xmlns:a16="http://schemas.microsoft.com/office/drawing/2014/main" val="20001"/>
                    </a:ext>
                  </a:extLst>
                </a:gridCol>
                <a:gridCol w="1884610">
                  <a:extLst>
                    <a:ext uri="{9D8B030D-6E8A-4147-A177-3AD203B41FA5}">
                      <a16:colId xmlns:a16="http://schemas.microsoft.com/office/drawing/2014/main" val="20002"/>
                    </a:ext>
                  </a:extLst>
                </a:gridCol>
                <a:gridCol w="2905571">
                  <a:extLst>
                    <a:ext uri="{9D8B030D-6E8A-4147-A177-3AD203B41FA5}">
                      <a16:colId xmlns:a16="http://schemas.microsoft.com/office/drawing/2014/main" val="20003"/>
                    </a:ext>
                  </a:extLst>
                </a:gridCol>
              </a:tblGrid>
              <a:tr h="369887">
                <a:tc>
                  <a:txBody>
                    <a:bodyPr/>
                    <a:lstStyle/>
                    <a:p>
                      <a:pPr algn="l"/>
                      <a:r>
                        <a:rPr sz="975" b="0" i="0" u="none">
                          <a:solidFill>
                            <a:srgbClr val="FFFFFF"/>
                          </a:solidFill>
                          <a:latin typeface="Poppins SemiBold"/>
                        </a:rPr>
                        <a:t>Rank</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Fund Name</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Category</a:t>
                      </a:r>
                    </a:p>
                  </a:txBody>
                  <a:tcPr marL="63500" marR="63500" marT="25400" marB="25400" anchor="ctr">
                    <a:lnL>
                      <a:noFill/>
                    </a:lnL>
                    <a:lnR>
                      <a:noFill/>
                    </a:lnR>
                    <a:lnT>
                      <a:noFill/>
                    </a:lnT>
                    <a:lnB>
                      <a:noFill/>
                    </a:lnB>
                    <a:solidFill>
                      <a:srgbClr val="190482"/>
                    </a:solidFill>
                  </a:tcPr>
                </a:tc>
                <a:tc>
                  <a:txBody>
                    <a:bodyPr/>
                    <a:lstStyle/>
                    <a:p>
                      <a:pPr algn="l"/>
                      <a:r>
                        <a:rPr sz="975" b="0" i="0" u="none">
                          <a:solidFill>
                            <a:srgbClr val="FFFFFF"/>
                          </a:solidFill>
                          <a:latin typeface="Poppins SemiBold"/>
                        </a:rPr>
                        <a:t>Composite Score</a:t>
                      </a:r>
                    </a:p>
                  </a:txBody>
                  <a:tcPr marL="63500" marR="63500" marT="25400" marB="25400" anchor="ctr">
                    <a:lnL>
                      <a:noFill/>
                    </a:lnL>
                    <a:lnR>
                      <a:noFill/>
                    </a:lnR>
                    <a:lnT>
                      <a:noFill/>
                    </a:lnT>
                    <a:lnB>
                      <a:noFill/>
                    </a:lnB>
                    <a:solidFill>
                      <a:srgbClr val="190482"/>
                    </a:solidFill>
                  </a:tcPr>
                </a:tc>
                <a:extLst>
                  <a:ext uri="{0D108BD9-81ED-4DB2-BD59-A6C34878D82A}">
                    <a16:rowId xmlns:a16="http://schemas.microsoft.com/office/drawing/2014/main" val="10000"/>
                  </a:ext>
                </a:extLst>
              </a:tr>
              <a:tr h="369887">
                <a:tc>
                  <a:txBody>
                    <a:bodyPr/>
                    <a:lstStyle/>
                    <a:p>
                      <a:pPr algn="l"/>
                      <a:r>
                        <a:rPr sz="975" b="1" i="0" u="none">
                          <a:solidFill>
                            <a:srgbClr val="222222"/>
                          </a:solidFill>
                          <a:latin typeface="Open Sans"/>
                        </a:rPr>
                        <a:t>#1</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Mirae Asset Large Cap Fund</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Large Cap</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85.90</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369887">
                <a:tc>
                  <a:txBody>
                    <a:bodyPr/>
                    <a:lstStyle/>
                    <a:p>
                      <a:pPr algn="l"/>
                      <a:r>
                        <a:rPr sz="975" b="1" i="0" u="none">
                          <a:solidFill>
                            <a:srgbClr val="222222"/>
                          </a:solidFill>
                          <a:latin typeface="Open Sans"/>
                        </a:rPr>
                        <a:t>#2</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ICICI Prudential Midcap Fund</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222222"/>
                          </a:solidFill>
                          <a:latin typeface="Open Sans"/>
                        </a:rPr>
                        <a:t>Mid Cap</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81.79</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369887">
                <a:tc>
                  <a:txBody>
                    <a:bodyPr/>
                    <a:lstStyle/>
                    <a:p>
                      <a:pPr algn="l"/>
                      <a:r>
                        <a:rPr sz="975" b="1" i="0" u="none">
                          <a:solidFill>
                            <a:srgbClr val="222222"/>
                          </a:solidFill>
                          <a:latin typeface="Open Sans"/>
                        </a:rPr>
                        <a:t>#3</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Kotak Flexicap Fund</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Flexi Cap</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81.54</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369887">
                <a:tc>
                  <a:txBody>
                    <a:bodyPr/>
                    <a:lstStyle/>
                    <a:p>
                      <a:pPr algn="l"/>
                      <a:r>
                        <a:rPr sz="975" b="1" i="0" u="none">
                          <a:solidFill>
                            <a:srgbClr val="222222"/>
                          </a:solidFill>
                          <a:latin typeface="Open Sans"/>
                        </a:rPr>
                        <a:t>#4</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HDFC Mid-Cap Opportunities Fund</a:t>
                      </a:r>
                    </a:p>
                  </a:txBody>
                  <a:tcPr marL="63500" marR="63500" marT="25400" marB="25400" anchor="ctr">
                    <a:lnL>
                      <a:noFill/>
                    </a:lnL>
                    <a:lnR>
                      <a:noFill/>
                    </a:lnR>
                    <a:lnT>
                      <a:noFill/>
                    </a:lnT>
                    <a:lnB>
                      <a:noFill/>
                    </a:lnB>
                    <a:solidFill>
                      <a:srgbClr val="F8FAFC"/>
                    </a:solidFill>
                  </a:tcPr>
                </a:tc>
                <a:tc>
                  <a:txBody>
                    <a:bodyPr/>
                    <a:lstStyle/>
                    <a:p>
                      <a:pPr algn="l"/>
                      <a:r>
                        <a:rPr sz="975" b="0" i="0" u="none">
                          <a:solidFill>
                            <a:srgbClr val="222222"/>
                          </a:solidFill>
                          <a:latin typeface="Open Sans"/>
                        </a:rPr>
                        <a:t>Mid Cap</a:t>
                      </a:r>
                    </a:p>
                  </a:txBody>
                  <a:tcPr marL="63500" marR="63500" marT="25400" marB="25400" anchor="ctr">
                    <a:lnL>
                      <a:noFill/>
                    </a:lnL>
                    <a:lnR>
                      <a:noFill/>
                    </a:lnR>
                    <a:lnT>
                      <a:noFill/>
                    </a:lnT>
                    <a:lnB>
                      <a:noFill/>
                    </a:lnB>
                    <a:solidFill>
                      <a:srgbClr val="F8FAFC"/>
                    </a:solidFill>
                  </a:tcPr>
                </a:tc>
                <a:tc>
                  <a:txBody>
                    <a:bodyPr/>
                    <a:lstStyle/>
                    <a:p>
                      <a:pPr algn="l"/>
                      <a:r>
                        <a:rPr sz="975" b="1" i="0" u="none">
                          <a:solidFill>
                            <a:srgbClr val="222222"/>
                          </a:solidFill>
                          <a:latin typeface="Open Sans"/>
                        </a:rPr>
                        <a:t>80.64</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369890">
                <a:tc>
                  <a:txBody>
                    <a:bodyPr/>
                    <a:lstStyle/>
                    <a:p>
                      <a:pPr algn="l"/>
                      <a:r>
                        <a:rPr sz="975" b="1" i="0" u="none">
                          <a:solidFill>
                            <a:srgbClr val="222222"/>
                          </a:solidFill>
                          <a:latin typeface="Open Sans"/>
                        </a:rPr>
                        <a:t>#5</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ICICI Prudential Bluechip Direct</a:t>
                      </a:r>
                    </a:p>
                  </a:txBody>
                  <a:tcPr marL="63500" marR="63500" marT="25400" marB="25400" anchor="ctr">
                    <a:lnL>
                      <a:noFill/>
                    </a:lnL>
                    <a:lnR>
                      <a:noFill/>
                    </a:lnR>
                    <a:lnT>
                      <a:noFill/>
                    </a:lnT>
                    <a:lnB>
                      <a:noFill/>
                    </a:lnB>
                    <a:noFill/>
                  </a:tcPr>
                </a:tc>
                <a:tc>
                  <a:txBody>
                    <a:bodyPr/>
                    <a:lstStyle/>
                    <a:p>
                      <a:pPr algn="l"/>
                      <a:r>
                        <a:rPr sz="975" b="0" i="0" u="none">
                          <a:solidFill>
                            <a:srgbClr val="222222"/>
                          </a:solidFill>
                          <a:latin typeface="Open Sans"/>
                        </a:rPr>
                        <a:t>Large Cap</a:t>
                      </a:r>
                    </a:p>
                  </a:txBody>
                  <a:tcPr marL="63500" marR="63500" marT="25400" marB="25400" anchor="ctr">
                    <a:lnL>
                      <a:noFill/>
                    </a:lnL>
                    <a:lnR>
                      <a:noFill/>
                    </a:lnR>
                    <a:lnT>
                      <a:noFill/>
                    </a:lnT>
                    <a:lnB>
                      <a:noFill/>
                    </a:lnB>
                    <a:noFill/>
                  </a:tcPr>
                </a:tc>
                <a:tc>
                  <a:txBody>
                    <a:bodyPr/>
                    <a:lstStyle/>
                    <a:p>
                      <a:pPr algn="l"/>
                      <a:r>
                        <a:rPr sz="975" b="1" i="0" u="none">
                          <a:solidFill>
                            <a:srgbClr val="222222"/>
                          </a:solidFill>
                          <a:latin typeface="Open Sans"/>
                        </a:rPr>
                        <a:t>79.49</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
        <p:nvSpPr>
          <p:cNvPr id="10" name="TextBox 9"/>
          <p:cNvSpPr txBox="1"/>
          <p:nvPr/>
        </p:nvSpPr>
        <p:spPr>
          <a:xfrm>
            <a:off x="847725" y="1156245"/>
            <a:ext cx="4991100" cy="200025"/>
          </a:xfrm>
          <a:prstGeom prst="rect">
            <a:avLst/>
          </a:prstGeom>
          <a:noFill/>
        </p:spPr>
        <p:txBody>
          <a:bodyPr wrap="square" lIns="0" tIns="0" rIns="0" bIns="0" anchor="ctr">
            <a:spAutoFit/>
          </a:bodyPr>
          <a:lstStyle/>
          <a:p>
            <a:pPr algn="l"/>
            <a:r>
              <a:rPr sz="1050" b="0" i="0" u="none">
                <a:solidFill>
                  <a:srgbClr val="190482"/>
                </a:solidFill>
                <a:latin typeface="Poppins SemiBold"/>
              </a:rPr>
              <a:t>Alpha (vs NIFTY100) &amp; Max Drawdowns</a:t>
            </a:r>
          </a:p>
        </p:txBody>
      </p:sp>
      <p:sp>
        <p:nvSpPr>
          <p:cNvPr id="11" name="TextBox 10"/>
          <p:cNvSpPr txBox="1"/>
          <p:nvPr/>
        </p:nvSpPr>
        <p:spPr>
          <a:xfrm>
            <a:off x="6610350" y="1156245"/>
            <a:ext cx="4962525" cy="200025"/>
          </a:xfrm>
          <a:prstGeom prst="rect">
            <a:avLst/>
          </a:prstGeom>
          <a:noFill/>
        </p:spPr>
        <p:txBody>
          <a:bodyPr wrap="square" lIns="0" tIns="0" rIns="0" bIns="0" anchor="ctr">
            <a:spAutoFit/>
          </a:bodyPr>
          <a:lstStyle/>
          <a:p>
            <a:pPr algn="l"/>
            <a:r>
              <a:rPr sz="1050" b="0" i="0" u="none">
                <a:solidFill>
                  <a:srgbClr val="190482"/>
                </a:solidFill>
                <a:latin typeface="Poppins SemiBold"/>
              </a:rPr>
              <a:t>Composite Scorecard Weighting</a:t>
            </a:r>
          </a:p>
        </p:txBody>
      </p:sp>
      <p:pic>
        <p:nvPicPr>
          <p:cNvPr id="12" name="Picture 11" descr="image.png"/>
          <p:cNvPicPr>
            <a:picLocks noChangeAspect="1"/>
          </p:cNvPicPr>
          <p:nvPr/>
        </p:nvPicPr>
        <p:blipFill>
          <a:blip r:embed="rId7"/>
          <a:stretch>
            <a:fillRect/>
          </a:stretch>
        </p:blipFill>
        <p:spPr>
          <a:xfrm>
            <a:off x="619125" y="2985045"/>
            <a:ext cx="142875" cy="142875"/>
          </a:xfrm>
          <a:prstGeom prst="rect">
            <a:avLst/>
          </a:prstGeom>
        </p:spPr>
      </p:pic>
      <p:pic>
        <p:nvPicPr>
          <p:cNvPr id="13" name="Picture 12" descr="image.png"/>
          <p:cNvPicPr>
            <a:picLocks noChangeAspect="1"/>
          </p:cNvPicPr>
          <p:nvPr/>
        </p:nvPicPr>
        <p:blipFill>
          <a:blip r:embed="rId8"/>
          <a:stretch>
            <a:fillRect/>
          </a:stretch>
        </p:blipFill>
        <p:spPr>
          <a:xfrm>
            <a:off x="619125" y="1189583"/>
            <a:ext cx="133350" cy="133350"/>
          </a:xfrm>
          <a:prstGeom prst="rect">
            <a:avLst/>
          </a:prstGeom>
        </p:spPr>
      </p:pic>
      <p:pic>
        <p:nvPicPr>
          <p:cNvPr id="14" name="Picture 13" descr="image.png"/>
          <p:cNvPicPr>
            <a:picLocks noChangeAspect="1"/>
          </p:cNvPicPr>
          <p:nvPr/>
        </p:nvPicPr>
        <p:blipFill>
          <a:blip r:embed="rId9"/>
          <a:stretch>
            <a:fillRect/>
          </a:stretch>
        </p:blipFill>
        <p:spPr>
          <a:xfrm>
            <a:off x="6381750" y="1189583"/>
            <a:ext cx="133350" cy="133350"/>
          </a:xfrm>
          <a:prstGeom prst="rect">
            <a:avLst/>
          </a:prstGeom>
        </p:spPr>
      </p:pic>
      <p:pic>
        <p:nvPicPr>
          <p:cNvPr id="15" name="Picture 14" descr="image.png"/>
          <p:cNvPicPr>
            <a:picLocks noChangeAspect="1"/>
          </p:cNvPicPr>
          <p:nvPr/>
        </p:nvPicPr>
        <p:blipFill>
          <a:blip r:embed="rId10"/>
          <a:stretch>
            <a:fillRect/>
          </a:stretch>
        </p:blipFill>
        <p:spPr>
          <a:xfrm>
            <a:off x="6381750" y="1451520"/>
            <a:ext cx="790575" cy="238125"/>
          </a:xfrm>
          <a:prstGeom prst="rect">
            <a:avLst/>
          </a:prstGeom>
        </p:spPr>
      </p:pic>
      <p:pic>
        <p:nvPicPr>
          <p:cNvPr id="16" name="Picture 15" descr="image.png"/>
          <p:cNvPicPr>
            <a:picLocks noChangeAspect="1"/>
          </p:cNvPicPr>
          <p:nvPr/>
        </p:nvPicPr>
        <p:blipFill>
          <a:blip r:embed="rId11"/>
          <a:stretch>
            <a:fillRect/>
          </a:stretch>
        </p:blipFill>
        <p:spPr>
          <a:xfrm>
            <a:off x="7248525" y="1451520"/>
            <a:ext cx="866775" cy="238125"/>
          </a:xfrm>
          <a:prstGeom prst="rect">
            <a:avLst/>
          </a:prstGeom>
        </p:spPr>
      </p:pic>
      <p:pic>
        <p:nvPicPr>
          <p:cNvPr id="17" name="Picture 16" descr="image.png"/>
          <p:cNvPicPr>
            <a:picLocks noChangeAspect="1"/>
          </p:cNvPicPr>
          <p:nvPr/>
        </p:nvPicPr>
        <p:blipFill>
          <a:blip r:embed="rId12"/>
          <a:stretch>
            <a:fillRect/>
          </a:stretch>
        </p:blipFill>
        <p:spPr>
          <a:xfrm>
            <a:off x="8191500" y="1451520"/>
            <a:ext cx="790575" cy="238125"/>
          </a:xfrm>
          <a:prstGeom prst="rect">
            <a:avLst/>
          </a:prstGeom>
        </p:spPr>
      </p:pic>
      <p:pic>
        <p:nvPicPr>
          <p:cNvPr id="18" name="Picture 17" descr="image.png"/>
          <p:cNvPicPr>
            <a:picLocks noChangeAspect="1"/>
          </p:cNvPicPr>
          <p:nvPr/>
        </p:nvPicPr>
        <p:blipFill>
          <a:blip r:embed="rId13"/>
          <a:stretch>
            <a:fillRect/>
          </a:stretch>
        </p:blipFill>
        <p:spPr>
          <a:xfrm>
            <a:off x="9058275" y="1451520"/>
            <a:ext cx="1257300" cy="238125"/>
          </a:xfrm>
          <a:prstGeom prst="rect">
            <a:avLst/>
          </a:prstGeom>
        </p:spPr>
      </p:pic>
      <p:pic>
        <p:nvPicPr>
          <p:cNvPr id="19" name="Picture 18" descr="image.png"/>
          <p:cNvPicPr>
            <a:picLocks noChangeAspect="1"/>
          </p:cNvPicPr>
          <p:nvPr/>
        </p:nvPicPr>
        <p:blipFill>
          <a:blip r:embed="rId14"/>
          <a:stretch>
            <a:fillRect/>
          </a:stretch>
        </p:blipFill>
        <p:spPr>
          <a:xfrm>
            <a:off x="10391775" y="1451520"/>
            <a:ext cx="1076325" cy="238125"/>
          </a:xfrm>
          <a:prstGeom prst="rect">
            <a:avLst/>
          </a:prstGeom>
        </p:spPr>
      </p:pic>
      <p:sp>
        <p:nvSpPr>
          <p:cNvPr id="20" name="Rectangle 19"/>
          <p:cNvSpPr/>
          <p:nvPr/>
        </p:nvSpPr>
        <p:spPr>
          <a:xfrm>
            <a:off x="628650" y="4004220"/>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885057" y="4004220"/>
            <a:ext cx="48881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73167" y="4004220"/>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657778" y="4004220"/>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8650" y="4370933"/>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885057" y="4370933"/>
            <a:ext cx="48881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773167" y="4370933"/>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657778" y="4370933"/>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28650" y="4737645"/>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885057" y="4737645"/>
            <a:ext cx="48881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773167" y="4737645"/>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657778" y="4737645"/>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8650" y="5104358"/>
            <a:ext cx="1256407"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1885057" y="5104358"/>
            <a:ext cx="48881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773167" y="5104358"/>
            <a:ext cx="188461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8657778" y="5104358"/>
            <a:ext cx="290557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9125" y="1451520"/>
            <a:ext cx="1265932" cy="138499"/>
          </a:xfrm>
          <a:prstGeom prst="rect">
            <a:avLst/>
          </a:prstGeom>
          <a:noFill/>
        </p:spPr>
        <p:txBody>
          <a:bodyPr wrap="square" lIns="0" tIns="0" rIns="0" bIns="0" anchor="t">
            <a:spAutoFit/>
          </a:bodyPr>
          <a:lstStyle/>
          <a:p>
            <a:pPr algn="l"/>
            <a:r>
              <a:rPr sz="900" b="1" i="0" u="none" dirty="0">
                <a:solidFill>
                  <a:srgbClr val="414BEA"/>
                </a:solidFill>
                <a:latin typeface="Open Sans"/>
              </a:rPr>
              <a:t>Top Alpha Leaders:</a:t>
            </a:r>
          </a:p>
        </p:txBody>
      </p:sp>
      <p:sp>
        <p:nvSpPr>
          <p:cNvPr id="37" name="TextBox 36"/>
          <p:cNvSpPr txBox="1"/>
          <p:nvPr/>
        </p:nvSpPr>
        <p:spPr>
          <a:xfrm>
            <a:off x="3276600" y="1451520"/>
            <a:ext cx="1265932" cy="138499"/>
          </a:xfrm>
          <a:prstGeom prst="rect">
            <a:avLst/>
          </a:prstGeom>
          <a:noFill/>
        </p:spPr>
        <p:txBody>
          <a:bodyPr wrap="square" lIns="0" tIns="0" rIns="0" bIns="0" anchor="t">
            <a:spAutoFit/>
          </a:bodyPr>
          <a:lstStyle/>
          <a:p>
            <a:pPr algn="l"/>
            <a:r>
              <a:rPr sz="900" b="1" i="0" u="none" dirty="0">
                <a:solidFill>
                  <a:srgbClr val="F05537"/>
                </a:solidFill>
                <a:latin typeface="Open Sans"/>
              </a:rPr>
              <a:t>Worst Drawdowns:</a:t>
            </a:r>
          </a:p>
        </p:txBody>
      </p:sp>
      <p:sp>
        <p:nvSpPr>
          <p:cNvPr id="38" name="TextBox 37"/>
          <p:cNvSpPr txBox="1"/>
          <p:nvPr/>
        </p:nvSpPr>
        <p:spPr>
          <a:xfrm>
            <a:off x="695325" y="164916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39" name="TextBox 38"/>
          <p:cNvSpPr txBox="1"/>
          <p:nvPr/>
        </p:nvSpPr>
        <p:spPr>
          <a:xfrm>
            <a:off x="752475" y="1651545"/>
            <a:ext cx="2428875" cy="214312"/>
          </a:xfrm>
          <a:prstGeom prst="rect">
            <a:avLst/>
          </a:prstGeom>
          <a:noFill/>
        </p:spPr>
        <p:txBody>
          <a:bodyPr wrap="square" lIns="57150" tIns="0" rIns="0" bIns="0" anchor="t">
            <a:spAutoFit/>
          </a:bodyPr>
          <a:lstStyle/>
          <a:p>
            <a:pPr algn="l">
              <a:lnSpc>
                <a:spcPts val="1687"/>
              </a:lnSpc>
            </a:pPr>
            <a:r>
              <a:rPr sz="1125" b="0" i="0" u="none" dirty="0">
                <a:solidFill>
                  <a:srgbClr val="222222"/>
                </a:solidFill>
                <a:latin typeface="Open Sans"/>
              </a:rPr>
              <a:t>119598: </a:t>
            </a:r>
            <a:r>
              <a:rPr sz="1125" b="1" i="0" u="none" dirty="0">
                <a:solidFill>
                  <a:srgbClr val="222222"/>
                </a:solidFill>
                <a:latin typeface="Open Sans"/>
              </a:rPr>
              <a:t>0.30337</a:t>
            </a:r>
          </a:p>
        </p:txBody>
      </p:sp>
      <p:sp>
        <p:nvSpPr>
          <p:cNvPr id="40" name="TextBox 39"/>
          <p:cNvSpPr txBox="1"/>
          <p:nvPr/>
        </p:nvSpPr>
        <p:spPr>
          <a:xfrm>
            <a:off x="695325" y="1863476"/>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1" name="TextBox 40"/>
          <p:cNvSpPr txBox="1"/>
          <p:nvPr/>
        </p:nvSpPr>
        <p:spPr>
          <a:xfrm>
            <a:off x="752475" y="1865858"/>
            <a:ext cx="2428875"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149324: </a:t>
            </a:r>
            <a:r>
              <a:rPr sz="1125" b="1" i="0" u="none">
                <a:solidFill>
                  <a:srgbClr val="222222"/>
                </a:solidFill>
                <a:latin typeface="Open Sans"/>
              </a:rPr>
              <a:t>0.30058</a:t>
            </a:r>
          </a:p>
        </p:txBody>
      </p:sp>
      <p:sp>
        <p:nvSpPr>
          <p:cNvPr id="42" name="TextBox 41"/>
          <p:cNvSpPr txBox="1"/>
          <p:nvPr/>
        </p:nvSpPr>
        <p:spPr>
          <a:xfrm>
            <a:off x="695325" y="207778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3" name="TextBox 42"/>
          <p:cNvSpPr txBox="1"/>
          <p:nvPr/>
        </p:nvSpPr>
        <p:spPr>
          <a:xfrm>
            <a:off x="752475" y="2080170"/>
            <a:ext cx="2428875"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120505: </a:t>
            </a:r>
            <a:r>
              <a:rPr sz="1125" b="1" i="0" u="none">
                <a:solidFill>
                  <a:srgbClr val="222222"/>
                </a:solidFill>
                <a:latin typeface="Open Sans"/>
              </a:rPr>
              <a:t>0.29264</a:t>
            </a:r>
          </a:p>
        </p:txBody>
      </p:sp>
      <p:sp>
        <p:nvSpPr>
          <p:cNvPr id="44" name="TextBox 43"/>
          <p:cNvSpPr txBox="1"/>
          <p:nvPr/>
        </p:nvSpPr>
        <p:spPr>
          <a:xfrm>
            <a:off x="695325" y="2292101"/>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5" name="TextBox 44"/>
          <p:cNvSpPr txBox="1"/>
          <p:nvPr/>
        </p:nvSpPr>
        <p:spPr>
          <a:xfrm>
            <a:off x="752475" y="2294483"/>
            <a:ext cx="2428875"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148569: </a:t>
            </a:r>
            <a:r>
              <a:rPr sz="1125" b="1" i="0" u="none">
                <a:solidFill>
                  <a:srgbClr val="222222"/>
                </a:solidFill>
                <a:latin typeface="Open Sans"/>
              </a:rPr>
              <a:t>0.28270</a:t>
            </a:r>
          </a:p>
        </p:txBody>
      </p:sp>
      <p:sp>
        <p:nvSpPr>
          <p:cNvPr id="46" name="TextBox 45"/>
          <p:cNvSpPr txBox="1"/>
          <p:nvPr/>
        </p:nvSpPr>
        <p:spPr>
          <a:xfrm>
            <a:off x="3352800" y="1649164"/>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7" name="TextBox 46"/>
          <p:cNvSpPr txBox="1"/>
          <p:nvPr/>
        </p:nvSpPr>
        <p:spPr>
          <a:xfrm>
            <a:off x="3409950" y="1651545"/>
            <a:ext cx="2428875"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119599: </a:t>
            </a:r>
            <a:r>
              <a:rPr sz="1125" b="1" i="0" u="none">
                <a:solidFill>
                  <a:srgbClr val="F05537"/>
                </a:solidFill>
                <a:latin typeface="Open Sans"/>
              </a:rPr>
              <a:t>-52.57%</a:t>
            </a:r>
          </a:p>
        </p:txBody>
      </p:sp>
      <p:sp>
        <p:nvSpPr>
          <p:cNvPr id="48" name="TextBox 47"/>
          <p:cNvSpPr txBox="1"/>
          <p:nvPr/>
        </p:nvSpPr>
        <p:spPr>
          <a:xfrm>
            <a:off x="3352800" y="1863476"/>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49" name="TextBox 48"/>
          <p:cNvSpPr txBox="1"/>
          <p:nvPr/>
        </p:nvSpPr>
        <p:spPr>
          <a:xfrm>
            <a:off x="3409950" y="1865858"/>
            <a:ext cx="2428875"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119095: </a:t>
            </a:r>
            <a:r>
              <a:rPr sz="1125" b="1" i="0" u="none">
                <a:solidFill>
                  <a:srgbClr val="F05537"/>
                </a:solidFill>
                <a:latin typeface="Open Sans"/>
              </a:rPr>
              <a:t>-51.68%</a:t>
            </a:r>
          </a:p>
        </p:txBody>
      </p:sp>
      <p:sp>
        <p:nvSpPr>
          <p:cNvPr id="50" name="TextBox 49"/>
          <p:cNvSpPr txBox="1"/>
          <p:nvPr/>
        </p:nvSpPr>
        <p:spPr>
          <a:xfrm>
            <a:off x="3352800" y="207778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51" name="TextBox 50"/>
          <p:cNvSpPr txBox="1"/>
          <p:nvPr/>
        </p:nvSpPr>
        <p:spPr>
          <a:xfrm>
            <a:off x="3409950" y="2080170"/>
            <a:ext cx="2428875"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101207: </a:t>
            </a:r>
            <a:r>
              <a:rPr sz="1125" b="1" i="0" u="none">
                <a:solidFill>
                  <a:srgbClr val="F05537"/>
                </a:solidFill>
                <a:latin typeface="Open Sans"/>
              </a:rPr>
              <a:t>-35.45%</a:t>
            </a:r>
          </a:p>
        </p:txBody>
      </p:sp>
      <p:sp>
        <p:nvSpPr>
          <p:cNvPr id="52" name="TextBox 51"/>
          <p:cNvSpPr txBox="1"/>
          <p:nvPr/>
        </p:nvSpPr>
        <p:spPr>
          <a:xfrm>
            <a:off x="476250" y="419100"/>
            <a:ext cx="7143249" cy="365670"/>
          </a:xfrm>
          <a:prstGeom prst="rect">
            <a:avLst/>
          </a:prstGeom>
          <a:noFill/>
        </p:spPr>
        <p:txBody>
          <a:bodyPr wrap="square" lIns="0" tIns="0" rIns="0" bIns="0" anchor="ctr">
            <a:spAutoFit/>
          </a:bodyPr>
          <a:lstStyle/>
          <a:p>
            <a:pPr algn="l">
              <a:lnSpc>
                <a:spcPts val="2879"/>
              </a:lnSpc>
            </a:pPr>
            <a:r>
              <a:rPr sz="2400" b="1" i="0" u="none">
                <a:solidFill>
                  <a:srgbClr val="190482"/>
                </a:solidFill>
                <a:latin typeface="Open Sans"/>
              </a:rPr>
              <a:t>Alpha, Beta &amp; Composite Fund Scorecard</a:t>
            </a:r>
          </a:p>
        </p:txBody>
      </p:sp>
      <p:sp>
        <p:nvSpPr>
          <p:cNvPr id="53" name="Rounded Rectangle 52"/>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a:extLst>
              <a:ext uri="{FF2B5EF4-FFF2-40B4-BE49-F238E27FC236}">
                <a16:creationId xmlns:a16="http://schemas.microsoft.com/office/drawing/2014/main" id="{2AA79317-B189-4B6C-7C1A-4BD691270440}"/>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59" name="Picture 58">
            <a:extLst>
              <a:ext uri="{FF2B5EF4-FFF2-40B4-BE49-F238E27FC236}">
                <a16:creationId xmlns:a16="http://schemas.microsoft.com/office/drawing/2014/main" id="{0EE92A1C-34CA-9CE7-33BA-BBC8A056F60E}"/>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841003"/>
            <a:ext cx="5238750" cy="1666875"/>
          </a:xfrm>
          <a:prstGeom prst="rect">
            <a:avLst/>
          </a:prstGeom>
        </p:spPr>
      </p:pic>
      <p:pic>
        <p:nvPicPr>
          <p:cNvPr id="4" name="Picture 3" descr="image.png"/>
          <p:cNvPicPr>
            <a:picLocks noChangeAspect="1"/>
          </p:cNvPicPr>
          <p:nvPr/>
        </p:nvPicPr>
        <p:blipFill>
          <a:blip r:embed="rId4"/>
          <a:stretch>
            <a:fillRect/>
          </a:stretch>
        </p:blipFill>
        <p:spPr>
          <a:xfrm>
            <a:off x="476250" y="3660278"/>
            <a:ext cx="5238750" cy="1338262"/>
          </a:xfrm>
          <a:prstGeom prst="rect">
            <a:avLst/>
          </a:prstGeom>
        </p:spPr>
      </p:pic>
      <p:sp>
        <p:nvSpPr>
          <p:cNvPr id="5" name="TextBox 4"/>
          <p:cNvSpPr txBox="1"/>
          <p:nvPr/>
        </p:nvSpPr>
        <p:spPr>
          <a:xfrm>
            <a:off x="476250" y="419100"/>
            <a:ext cx="5238750" cy="731341"/>
          </a:xfrm>
          <a:prstGeom prst="rect">
            <a:avLst/>
          </a:prstGeom>
          <a:noFill/>
        </p:spPr>
        <p:txBody>
          <a:bodyPr wrap="square" lIns="0" tIns="0" rIns="0" bIns="0" anchor="ctr">
            <a:spAutoFit/>
          </a:bodyPr>
          <a:lstStyle/>
          <a:p>
            <a:pPr algn="l">
              <a:lnSpc>
                <a:spcPts val="2879"/>
              </a:lnSpc>
            </a:pPr>
            <a:r>
              <a:rPr sz="2400" b="1" i="0" u="none">
                <a:solidFill>
                  <a:srgbClr val="190482"/>
                </a:solidFill>
                <a:latin typeface="Open Sans"/>
              </a:rPr>
              <a:t>Interactive Power BI Dashboard</a:t>
            </a:r>
          </a:p>
        </p:txBody>
      </p:sp>
      <p:sp>
        <p:nvSpPr>
          <p:cNvPr id="7" name="Rounded Rectangle 6"/>
          <p:cNvSpPr/>
          <p:nvPr/>
        </p:nvSpPr>
        <p:spPr>
          <a:xfrm>
            <a:off x="476250" y="1150441"/>
            <a:ext cx="439043"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76250" y="1302841"/>
            <a:ext cx="5238750" cy="385762"/>
          </a:xfrm>
          <a:prstGeom prst="rect">
            <a:avLst/>
          </a:prstGeom>
          <a:noFill/>
        </p:spPr>
        <p:txBody>
          <a:bodyPr wrap="square" lIns="0" tIns="0" rIns="0" bIns="0" anchor="t">
            <a:spAutoFit/>
          </a:bodyPr>
          <a:lstStyle/>
          <a:p>
            <a:pPr algn="l">
              <a:lnSpc>
                <a:spcPts val="1518"/>
              </a:lnSpc>
            </a:pPr>
            <a:r>
              <a:rPr sz="1012" b="0" i="0" u="none">
                <a:solidFill>
                  <a:srgbClr val="475569"/>
                </a:solidFill>
                <a:latin typeface="Open Sans"/>
              </a:rPr>
              <a:t>Executive report pages designed for macro industry tracking and granular fund comparative analytics.</a:t>
            </a:r>
          </a:p>
        </p:txBody>
      </p:sp>
      <p:sp>
        <p:nvSpPr>
          <p:cNvPr id="9" name="TextBox 8"/>
          <p:cNvSpPr txBox="1"/>
          <p:nvPr/>
        </p:nvSpPr>
        <p:spPr>
          <a:xfrm>
            <a:off x="933450" y="2041028"/>
            <a:ext cx="4581525" cy="200025"/>
          </a:xfrm>
          <a:prstGeom prst="rect">
            <a:avLst/>
          </a:prstGeom>
          <a:noFill/>
        </p:spPr>
        <p:txBody>
          <a:bodyPr wrap="square" lIns="0" tIns="0" rIns="0" bIns="0" anchor="ctr">
            <a:spAutoFit/>
          </a:bodyPr>
          <a:lstStyle/>
          <a:p>
            <a:pPr algn="l"/>
            <a:r>
              <a:rPr sz="1050" b="0" i="0" u="none">
                <a:solidFill>
                  <a:srgbClr val="190482"/>
                </a:solidFill>
                <a:latin typeface="Poppins SemiBold"/>
              </a:rPr>
              <a:t>Page 1: Industry Overview KPIs</a:t>
            </a:r>
          </a:p>
        </p:txBody>
      </p:sp>
      <p:sp>
        <p:nvSpPr>
          <p:cNvPr id="10" name="TextBox 9"/>
          <p:cNvSpPr txBox="1"/>
          <p:nvPr/>
        </p:nvSpPr>
        <p:spPr>
          <a:xfrm>
            <a:off x="800100" y="3860303"/>
            <a:ext cx="4714875" cy="200025"/>
          </a:xfrm>
          <a:prstGeom prst="rect">
            <a:avLst/>
          </a:prstGeom>
          <a:noFill/>
        </p:spPr>
        <p:txBody>
          <a:bodyPr wrap="square" lIns="0" tIns="0" rIns="0" bIns="0" anchor="ctr">
            <a:spAutoFit/>
          </a:bodyPr>
          <a:lstStyle/>
          <a:p>
            <a:pPr algn="l"/>
            <a:r>
              <a:rPr sz="1050" b="0" i="0" u="none">
                <a:solidFill>
                  <a:srgbClr val="190482"/>
                </a:solidFill>
                <a:latin typeface="Poppins SemiBold"/>
              </a:rPr>
              <a:t>Page 2: Fund Performance Analytics</a:t>
            </a:r>
          </a:p>
        </p:txBody>
      </p:sp>
      <p:pic>
        <p:nvPicPr>
          <p:cNvPr id="11" name="Picture 10" descr="image.png"/>
          <p:cNvPicPr>
            <a:picLocks noChangeAspect="1"/>
          </p:cNvPicPr>
          <p:nvPr/>
        </p:nvPicPr>
        <p:blipFill>
          <a:blip r:embed="rId5"/>
          <a:stretch>
            <a:fillRect/>
          </a:stretch>
        </p:blipFill>
        <p:spPr>
          <a:xfrm>
            <a:off x="704850" y="2074366"/>
            <a:ext cx="133350" cy="133350"/>
          </a:xfrm>
          <a:prstGeom prst="rect">
            <a:avLst/>
          </a:prstGeom>
        </p:spPr>
      </p:pic>
      <p:sp>
        <p:nvSpPr>
          <p:cNvPr id="12" name="TextBox 11"/>
          <p:cNvSpPr txBox="1"/>
          <p:nvPr/>
        </p:nvSpPr>
        <p:spPr>
          <a:xfrm>
            <a:off x="704850" y="2336303"/>
            <a:ext cx="2357437" cy="438150"/>
          </a:xfrm>
          <a:prstGeom prst="rect">
            <a:avLst/>
          </a:prstGeom>
          <a:noFill/>
        </p:spPr>
        <p:txBody>
          <a:bodyPr wrap="square" lIns="0" tIns="0" rIns="0" bIns="0" anchor="t">
            <a:spAutoFit/>
          </a:bodyPr>
          <a:lstStyle/>
          <a:p>
            <a:pPr algn="l"/>
            <a:r>
              <a:rPr sz="1200" b="0" i="0" u="none">
                <a:solidFill>
                  <a:srgbClr val="64748B"/>
                </a:solidFill>
                <a:latin typeface="Open Sans"/>
              </a:rPr>
              <a:t>TOTAL INDUSTRY AUM</a:t>
            </a:r>
            <a:r>
              <a:t>
</a:t>
            </a:r>
            <a:r>
              <a:rPr sz="1200" b="1" i="0" u="none">
                <a:solidFill>
                  <a:srgbClr val="190482"/>
                </a:solidFill>
                <a:latin typeface="Open Sans"/>
              </a:rPr>
              <a:t>62.74 Lakh Cr</a:t>
            </a:r>
          </a:p>
        </p:txBody>
      </p:sp>
      <p:sp>
        <p:nvSpPr>
          <p:cNvPr id="13" name="TextBox 12"/>
          <p:cNvSpPr txBox="1"/>
          <p:nvPr/>
        </p:nvSpPr>
        <p:spPr>
          <a:xfrm>
            <a:off x="3157537" y="2336303"/>
            <a:ext cx="2357437" cy="438150"/>
          </a:xfrm>
          <a:prstGeom prst="rect">
            <a:avLst/>
          </a:prstGeom>
          <a:noFill/>
        </p:spPr>
        <p:txBody>
          <a:bodyPr wrap="square" lIns="0" tIns="0" rIns="0" bIns="0" anchor="t">
            <a:spAutoFit/>
          </a:bodyPr>
          <a:lstStyle/>
          <a:p>
            <a:pPr algn="l"/>
            <a:r>
              <a:rPr sz="1200" b="0" i="0" u="none">
                <a:solidFill>
                  <a:srgbClr val="64748B"/>
                </a:solidFill>
                <a:latin typeface="Open Sans"/>
              </a:rPr>
              <a:t>MONTHLY SIP INFLOWS</a:t>
            </a:r>
            <a:r>
              <a:t>
</a:t>
            </a:r>
            <a:r>
              <a:rPr sz="1200" b="1" i="0" u="none">
                <a:solidFill>
                  <a:srgbClr val="F05537"/>
                </a:solidFill>
                <a:latin typeface="Open Sans"/>
              </a:rPr>
              <a:t>31,002 Cr</a:t>
            </a:r>
          </a:p>
        </p:txBody>
      </p:sp>
      <p:sp>
        <p:nvSpPr>
          <p:cNvPr id="14" name="TextBox 13"/>
          <p:cNvSpPr txBox="1"/>
          <p:nvPr/>
        </p:nvSpPr>
        <p:spPr>
          <a:xfrm>
            <a:off x="704850" y="2869703"/>
            <a:ext cx="2357437" cy="438150"/>
          </a:xfrm>
          <a:prstGeom prst="rect">
            <a:avLst/>
          </a:prstGeom>
          <a:noFill/>
        </p:spPr>
        <p:txBody>
          <a:bodyPr wrap="square" lIns="0" tIns="0" rIns="0" bIns="0" anchor="t">
            <a:spAutoFit/>
          </a:bodyPr>
          <a:lstStyle/>
          <a:p>
            <a:pPr algn="l"/>
            <a:r>
              <a:rPr sz="1200" b="0" i="0" u="none">
                <a:solidFill>
                  <a:srgbClr val="64748B"/>
                </a:solidFill>
                <a:latin typeface="Open Sans"/>
              </a:rPr>
              <a:t>TOTAL FOLIOS</a:t>
            </a:r>
            <a:r>
              <a:t>
</a:t>
            </a:r>
            <a:r>
              <a:rPr sz="1200" b="1" i="0" u="none">
                <a:solidFill>
                  <a:srgbClr val="190482"/>
                </a:solidFill>
                <a:latin typeface="Open Sans"/>
              </a:rPr>
              <a:t>26.12 Cr</a:t>
            </a:r>
          </a:p>
        </p:txBody>
      </p:sp>
      <p:sp>
        <p:nvSpPr>
          <p:cNvPr id="15" name="TextBox 14"/>
          <p:cNvSpPr txBox="1"/>
          <p:nvPr/>
        </p:nvSpPr>
        <p:spPr>
          <a:xfrm>
            <a:off x="3157537" y="2869703"/>
            <a:ext cx="2357437" cy="438150"/>
          </a:xfrm>
          <a:prstGeom prst="rect">
            <a:avLst/>
          </a:prstGeom>
          <a:noFill/>
        </p:spPr>
        <p:txBody>
          <a:bodyPr wrap="square" lIns="0" tIns="0" rIns="0" bIns="0" anchor="t">
            <a:spAutoFit/>
          </a:bodyPr>
          <a:lstStyle/>
          <a:p>
            <a:pPr algn="l"/>
            <a:r>
              <a:rPr sz="1200" b="0" i="0" u="none">
                <a:solidFill>
                  <a:srgbClr val="64748B"/>
                </a:solidFill>
                <a:latin typeface="Open Sans"/>
              </a:rPr>
              <a:t>TRACKED SCHEMES</a:t>
            </a:r>
            <a:r>
              <a:t>
</a:t>
            </a:r>
            <a:r>
              <a:rPr sz="1200" b="1" i="0" u="none">
                <a:solidFill>
                  <a:srgbClr val="7752FE"/>
                </a:solidFill>
                <a:latin typeface="Open Sans"/>
              </a:rPr>
              <a:t>1,522</a:t>
            </a:r>
          </a:p>
        </p:txBody>
      </p:sp>
      <p:sp>
        <p:nvSpPr>
          <p:cNvPr id="16" name="TextBox 15"/>
          <p:cNvSpPr txBox="1"/>
          <p:nvPr/>
        </p:nvSpPr>
        <p:spPr>
          <a:xfrm>
            <a:off x="800100" y="4153197"/>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7" name="TextBox 16"/>
          <p:cNvSpPr txBox="1"/>
          <p:nvPr/>
        </p:nvSpPr>
        <p:spPr>
          <a:xfrm>
            <a:off x="857250" y="4155578"/>
            <a:ext cx="4657725" cy="214312"/>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Scatter Plot:</a:t>
            </a:r>
            <a:r>
              <a:rPr sz="1125" b="0" i="0" u="none">
                <a:solidFill>
                  <a:srgbClr val="222222"/>
                </a:solidFill>
                <a:latin typeface="Open Sans"/>
              </a:rPr>
              <a:t> 3-Year Return vs Risk matrix for instant tiering.</a:t>
            </a:r>
          </a:p>
        </p:txBody>
      </p:sp>
      <p:sp>
        <p:nvSpPr>
          <p:cNvPr id="18" name="TextBox 17"/>
          <p:cNvSpPr txBox="1"/>
          <p:nvPr/>
        </p:nvSpPr>
        <p:spPr>
          <a:xfrm>
            <a:off x="800100" y="4367510"/>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19" name="TextBox 18"/>
          <p:cNvSpPr txBox="1"/>
          <p:nvPr/>
        </p:nvSpPr>
        <p:spPr>
          <a:xfrm>
            <a:off x="857250" y="4369891"/>
            <a:ext cx="4657725" cy="214312"/>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Fund Scorecard:</a:t>
            </a:r>
            <a:r>
              <a:rPr sz="1125" b="0" i="0" u="none">
                <a:solidFill>
                  <a:srgbClr val="222222"/>
                </a:solidFill>
                <a:latin typeface="Open Sans"/>
              </a:rPr>
              <a:t> Dynamic rank filtering based on composite scores.</a:t>
            </a:r>
          </a:p>
        </p:txBody>
      </p:sp>
      <p:sp>
        <p:nvSpPr>
          <p:cNvPr id="20" name="TextBox 19"/>
          <p:cNvSpPr txBox="1"/>
          <p:nvPr/>
        </p:nvSpPr>
        <p:spPr>
          <a:xfrm>
            <a:off x="800100" y="4581822"/>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1" name="TextBox 20"/>
          <p:cNvSpPr txBox="1"/>
          <p:nvPr/>
        </p:nvSpPr>
        <p:spPr>
          <a:xfrm>
            <a:off x="857250" y="4584203"/>
            <a:ext cx="4657725" cy="214312"/>
          </a:xfrm>
          <a:prstGeom prst="rect">
            <a:avLst/>
          </a:prstGeom>
          <a:noFill/>
        </p:spPr>
        <p:txBody>
          <a:bodyPr wrap="square" lIns="57150" tIns="0" rIns="0" bIns="0" anchor="t">
            <a:spAutoFit/>
          </a:bodyPr>
          <a:lstStyle/>
          <a:p>
            <a:pPr algn="l">
              <a:lnSpc>
                <a:spcPts val="1687"/>
              </a:lnSpc>
            </a:pPr>
            <a:r>
              <a:rPr sz="1125" b="1" i="0" u="none">
                <a:solidFill>
                  <a:srgbClr val="222222"/>
                </a:solidFill>
                <a:latin typeface="Open Sans"/>
              </a:rPr>
              <a:t>Interactive Slicers:</a:t>
            </a:r>
            <a:r>
              <a:rPr sz="1125" b="0" i="0" u="none">
                <a:solidFill>
                  <a:srgbClr val="222222"/>
                </a:solidFill>
                <a:latin typeface="Open Sans"/>
              </a:rPr>
              <a:t> Fund House, Category, and Plan filters.</a:t>
            </a:r>
          </a:p>
        </p:txBody>
      </p:sp>
      <p:pic>
        <p:nvPicPr>
          <p:cNvPr id="33" name="Picture 32">
            <a:extLst>
              <a:ext uri="{FF2B5EF4-FFF2-40B4-BE49-F238E27FC236}">
                <a16:creationId xmlns:a16="http://schemas.microsoft.com/office/drawing/2014/main" id="{28991139-895A-52B0-9FC1-B23FE110D69F}"/>
              </a:ext>
            </a:extLst>
          </p:cNvPr>
          <p:cNvPicPr>
            <a:picLocks noChangeAspect="1"/>
          </p:cNvPicPr>
          <p:nvPr/>
        </p:nvPicPr>
        <p:blipFill>
          <a:blip r:embed="rId6"/>
          <a:stretch>
            <a:fillRect/>
          </a:stretch>
        </p:blipFill>
        <p:spPr>
          <a:xfrm>
            <a:off x="7046784" y="896042"/>
            <a:ext cx="4873221" cy="2811862"/>
          </a:xfrm>
          <a:prstGeom prst="rect">
            <a:avLst/>
          </a:prstGeom>
        </p:spPr>
      </p:pic>
      <p:pic>
        <p:nvPicPr>
          <p:cNvPr id="35" name="Picture 34">
            <a:extLst>
              <a:ext uri="{FF2B5EF4-FFF2-40B4-BE49-F238E27FC236}">
                <a16:creationId xmlns:a16="http://schemas.microsoft.com/office/drawing/2014/main" id="{87AF4B8F-4A76-6D53-8AD2-8C6FC6F5158A}"/>
              </a:ext>
            </a:extLst>
          </p:cNvPr>
          <p:cNvPicPr>
            <a:picLocks noChangeAspect="1"/>
          </p:cNvPicPr>
          <p:nvPr/>
        </p:nvPicPr>
        <p:blipFill>
          <a:blip r:embed="rId7"/>
          <a:stretch>
            <a:fillRect/>
          </a:stretch>
        </p:blipFill>
        <p:spPr>
          <a:xfrm>
            <a:off x="7046784" y="3831829"/>
            <a:ext cx="4873221" cy="2811861"/>
          </a:xfrm>
          <a:prstGeom prst="rect">
            <a:avLst/>
          </a:prstGeom>
        </p:spPr>
      </p:pic>
      <p:sp>
        <p:nvSpPr>
          <p:cNvPr id="39" name="TextBox 38">
            <a:extLst>
              <a:ext uri="{FF2B5EF4-FFF2-40B4-BE49-F238E27FC236}">
                <a16:creationId xmlns:a16="http://schemas.microsoft.com/office/drawing/2014/main" id="{2B9F9FDA-FCB6-0A7B-7990-A8859D31989A}"/>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41" name="Picture 40">
            <a:extLst>
              <a:ext uri="{FF2B5EF4-FFF2-40B4-BE49-F238E27FC236}">
                <a16:creationId xmlns:a16="http://schemas.microsoft.com/office/drawing/2014/main" id="{0F696B1F-3E72-BC8E-53BA-7EC3E1099BE5}"/>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5505450" cy="2743200"/>
          </a:xfrm>
          <a:prstGeom prst="rect">
            <a:avLst/>
          </a:prstGeom>
        </p:spPr>
      </p:pic>
      <p:pic>
        <p:nvPicPr>
          <p:cNvPr id="4" name="Picture 3" descr="image.png"/>
          <p:cNvPicPr>
            <a:picLocks noChangeAspect="1"/>
          </p:cNvPicPr>
          <p:nvPr/>
        </p:nvPicPr>
        <p:blipFill>
          <a:blip r:embed="rId4"/>
          <a:stretch>
            <a:fillRect/>
          </a:stretch>
        </p:blipFill>
        <p:spPr>
          <a:xfrm>
            <a:off x="476174" y="3880395"/>
            <a:ext cx="5505450" cy="2743200"/>
          </a:xfrm>
          <a:prstGeom prst="rect">
            <a:avLst/>
          </a:prstGeom>
        </p:spPr>
      </p:pic>
      <p:pic>
        <p:nvPicPr>
          <p:cNvPr id="5" name="Picture 4" descr="image.png"/>
          <p:cNvPicPr>
            <a:picLocks noChangeAspect="1"/>
          </p:cNvPicPr>
          <p:nvPr/>
        </p:nvPicPr>
        <p:blipFill>
          <a:blip r:embed="rId5"/>
          <a:stretch>
            <a:fillRect/>
          </a:stretch>
        </p:blipFill>
        <p:spPr>
          <a:xfrm>
            <a:off x="676275" y="1594395"/>
            <a:ext cx="5105400" cy="1419225"/>
          </a:xfrm>
          <a:prstGeom prst="rect">
            <a:avLst/>
          </a:prstGeom>
        </p:spPr>
      </p:pic>
      <p:pic>
        <p:nvPicPr>
          <p:cNvPr id="6" name="Picture 5" descr="image.png"/>
          <p:cNvPicPr>
            <a:picLocks noChangeAspect="1"/>
          </p:cNvPicPr>
          <p:nvPr/>
        </p:nvPicPr>
        <p:blipFill>
          <a:blip r:embed="rId6"/>
          <a:stretch>
            <a:fillRect/>
          </a:stretch>
        </p:blipFill>
        <p:spPr>
          <a:xfrm>
            <a:off x="676275" y="4523904"/>
            <a:ext cx="5105400" cy="1419225"/>
          </a:xfrm>
          <a:prstGeom prst="rect">
            <a:avLst/>
          </a:prstGeom>
        </p:spPr>
      </p:pic>
      <p:pic>
        <p:nvPicPr>
          <p:cNvPr id="7" name="Picture 6" descr="image.png"/>
          <p:cNvPicPr>
            <a:picLocks noChangeAspect="1"/>
          </p:cNvPicPr>
          <p:nvPr/>
        </p:nvPicPr>
        <p:blipFill>
          <a:blip r:embed="rId7"/>
          <a:stretch>
            <a:fillRect/>
          </a:stretch>
        </p:blipFill>
        <p:spPr>
          <a:xfrm>
            <a:off x="838200" y="2175420"/>
            <a:ext cx="1530250" cy="676275"/>
          </a:xfrm>
          <a:prstGeom prst="rect">
            <a:avLst/>
          </a:prstGeom>
        </p:spPr>
      </p:pic>
      <p:pic>
        <p:nvPicPr>
          <p:cNvPr id="8" name="Picture 7" descr="image.png"/>
          <p:cNvPicPr>
            <a:picLocks noChangeAspect="1"/>
          </p:cNvPicPr>
          <p:nvPr/>
        </p:nvPicPr>
        <p:blipFill>
          <a:blip r:embed="rId8"/>
          <a:stretch>
            <a:fillRect/>
          </a:stretch>
        </p:blipFill>
        <p:spPr>
          <a:xfrm>
            <a:off x="2463700" y="2175420"/>
            <a:ext cx="1530399" cy="676275"/>
          </a:xfrm>
          <a:prstGeom prst="rect">
            <a:avLst/>
          </a:prstGeom>
        </p:spPr>
      </p:pic>
      <p:pic>
        <p:nvPicPr>
          <p:cNvPr id="9" name="Picture 8" descr="image.png"/>
          <p:cNvPicPr>
            <a:picLocks noChangeAspect="1"/>
          </p:cNvPicPr>
          <p:nvPr/>
        </p:nvPicPr>
        <p:blipFill>
          <a:blip r:embed="rId9"/>
          <a:stretch>
            <a:fillRect/>
          </a:stretch>
        </p:blipFill>
        <p:spPr>
          <a:xfrm>
            <a:off x="4089350" y="2175420"/>
            <a:ext cx="1530399" cy="676275"/>
          </a:xfrm>
          <a:prstGeom prst="rect">
            <a:avLst/>
          </a:prstGeom>
        </p:spPr>
      </p:pic>
      <p:pic>
        <p:nvPicPr>
          <p:cNvPr id="10" name="Picture 9" descr="image.png"/>
          <p:cNvPicPr>
            <a:picLocks noChangeAspect="1"/>
          </p:cNvPicPr>
          <p:nvPr/>
        </p:nvPicPr>
        <p:blipFill>
          <a:blip r:embed="rId9"/>
          <a:stretch>
            <a:fillRect/>
          </a:stretch>
        </p:blipFill>
        <p:spPr>
          <a:xfrm>
            <a:off x="840105" y="5073597"/>
            <a:ext cx="1530250" cy="676275"/>
          </a:xfrm>
          <a:prstGeom prst="rect">
            <a:avLst/>
          </a:prstGeom>
        </p:spPr>
      </p:pic>
      <p:pic>
        <p:nvPicPr>
          <p:cNvPr id="11" name="Picture 10" descr="image.png"/>
          <p:cNvPicPr>
            <a:picLocks noChangeAspect="1"/>
          </p:cNvPicPr>
          <p:nvPr/>
        </p:nvPicPr>
        <p:blipFill>
          <a:blip r:embed="rId10"/>
          <a:stretch>
            <a:fillRect/>
          </a:stretch>
        </p:blipFill>
        <p:spPr>
          <a:xfrm>
            <a:off x="2465605" y="5073597"/>
            <a:ext cx="1530399" cy="676275"/>
          </a:xfrm>
          <a:prstGeom prst="rect">
            <a:avLst/>
          </a:prstGeom>
        </p:spPr>
      </p:pic>
      <p:pic>
        <p:nvPicPr>
          <p:cNvPr id="12" name="Picture 11" descr="image.png"/>
          <p:cNvPicPr>
            <a:picLocks noChangeAspect="1"/>
          </p:cNvPicPr>
          <p:nvPr/>
        </p:nvPicPr>
        <p:blipFill>
          <a:blip r:embed="rId7"/>
          <a:stretch>
            <a:fillRect/>
          </a:stretch>
        </p:blipFill>
        <p:spPr>
          <a:xfrm>
            <a:off x="4091255" y="5073597"/>
            <a:ext cx="1530399" cy="676275"/>
          </a:xfrm>
          <a:prstGeom prst="rect">
            <a:avLst/>
          </a:prstGeom>
        </p:spPr>
      </p:pic>
      <p:pic>
        <p:nvPicPr>
          <p:cNvPr id="13" name="Picture 12" descr="image.png"/>
          <p:cNvPicPr>
            <a:picLocks noChangeAspect="1"/>
          </p:cNvPicPr>
          <p:nvPr/>
        </p:nvPicPr>
        <p:blipFill>
          <a:blip r:embed="rId11"/>
          <a:stretch>
            <a:fillRect/>
          </a:stretch>
        </p:blipFill>
        <p:spPr>
          <a:xfrm>
            <a:off x="7242714" y="495300"/>
            <a:ext cx="1938337" cy="213270"/>
          </a:xfrm>
          <a:prstGeom prst="rect">
            <a:avLst/>
          </a:prstGeom>
        </p:spPr>
      </p:pic>
      <p:sp>
        <p:nvSpPr>
          <p:cNvPr id="14" name="TextBox 13"/>
          <p:cNvSpPr txBox="1"/>
          <p:nvPr/>
        </p:nvSpPr>
        <p:spPr>
          <a:xfrm>
            <a:off x="990600" y="1241970"/>
            <a:ext cx="4791075" cy="257175"/>
          </a:xfrm>
          <a:prstGeom prst="rect">
            <a:avLst/>
          </a:prstGeom>
          <a:noFill/>
        </p:spPr>
        <p:txBody>
          <a:bodyPr wrap="square" lIns="0" tIns="0" rIns="0" bIns="0" anchor="ctr">
            <a:spAutoFit/>
          </a:bodyPr>
          <a:lstStyle/>
          <a:p>
            <a:pPr algn="l"/>
            <a:r>
              <a:rPr sz="1350" b="0" i="0" u="none">
                <a:solidFill>
                  <a:srgbClr val="190482"/>
                </a:solidFill>
                <a:latin typeface="Poppins SemiBold"/>
              </a:rPr>
              <a:t>Page 3: Investor Analytics</a:t>
            </a:r>
          </a:p>
        </p:txBody>
      </p:sp>
      <p:sp>
        <p:nvSpPr>
          <p:cNvPr id="15" name="TextBox 14"/>
          <p:cNvSpPr txBox="1"/>
          <p:nvPr/>
        </p:nvSpPr>
        <p:spPr>
          <a:xfrm>
            <a:off x="897790" y="3984788"/>
            <a:ext cx="4838700" cy="257175"/>
          </a:xfrm>
          <a:prstGeom prst="rect">
            <a:avLst/>
          </a:prstGeom>
          <a:noFill/>
        </p:spPr>
        <p:txBody>
          <a:bodyPr wrap="square" lIns="0" tIns="0" rIns="0" bIns="0" anchor="ctr">
            <a:spAutoFit/>
          </a:bodyPr>
          <a:lstStyle/>
          <a:p>
            <a:pPr algn="l"/>
            <a:r>
              <a:rPr sz="1350" b="0" i="0" u="none" dirty="0">
                <a:solidFill>
                  <a:srgbClr val="190482"/>
                </a:solidFill>
                <a:latin typeface="Poppins SemiBold"/>
              </a:rPr>
              <a:t>Page 4: SIP &amp; Market Trends</a:t>
            </a:r>
          </a:p>
        </p:txBody>
      </p:sp>
      <p:pic>
        <p:nvPicPr>
          <p:cNvPr id="16" name="Picture 15" descr="image.png"/>
          <p:cNvPicPr>
            <a:picLocks noChangeAspect="1"/>
          </p:cNvPicPr>
          <p:nvPr/>
        </p:nvPicPr>
        <p:blipFill>
          <a:blip r:embed="rId12"/>
          <a:stretch>
            <a:fillRect/>
          </a:stretch>
        </p:blipFill>
        <p:spPr>
          <a:xfrm>
            <a:off x="676275" y="1284833"/>
            <a:ext cx="219075" cy="171450"/>
          </a:xfrm>
          <a:prstGeom prst="rect">
            <a:avLst/>
          </a:prstGeom>
        </p:spPr>
      </p:pic>
      <p:sp>
        <p:nvSpPr>
          <p:cNvPr id="17" name="TextBox 16"/>
          <p:cNvSpPr txBox="1"/>
          <p:nvPr/>
        </p:nvSpPr>
        <p:spPr>
          <a:xfrm>
            <a:off x="2838450" y="1756320"/>
            <a:ext cx="2781300" cy="209550"/>
          </a:xfrm>
          <a:prstGeom prst="rect">
            <a:avLst/>
          </a:prstGeom>
          <a:noFill/>
        </p:spPr>
        <p:txBody>
          <a:bodyPr wrap="square" lIns="0" tIns="0" rIns="0" bIns="0" anchor="ctr">
            <a:spAutoFit/>
          </a:bodyPr>
          <a:lstStyle/>
          <a:p>
            <a:pPr algn="l"/>
            <a:r>
              <a:rPr sz="1200" b="0" i="0" u="none">
                <a:solidFill>
                  <a:srgbClr val="38BDF8"/>
                </a:solidFill>
                <a:latin typeface="Open Sans SemiBold"/>
              </a:rPr>
              <a:t> Demographic Dashboard</a:t>
            </a:r>
            <a:r>
              <a:rPr sz="1200" b="0" i="0" u="none">
                <a:solidFill>
                  <a:srgbClr val="FFFFFF"/>
                </a:solidFill>
                <a:latin typeface="Open Sans"/>
              </a:rPr>
              <a:t> </a:t>
            </a:r>
            <a:r>
              <a:rPr sz="1200" b="0" i="0" u="none">
                <a:solidFill>
                  <a:srgbClr val="94A3B8"/>
                </a:solidFill>
                <a:latin typeface="Open Sans"/>
              </a:rPr>
              <a:t>Active Filters</a:t>
            </a:r>
          </a:p>
        </p:txBody>
      </p:sp>
      <p:sp>
        <p:nvSpPr>
          <p:cNvPr id="18" name="Rectangle 17"/>
          <p:cNvSpPr/>
          <p:nvPr/>
        </p:nvSpPr>
        <p:spPr>
          <a:xfrm>
            <a:off x="838200" y="2051595"/>
            <a:ext cx="478155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1525" y="3125539"/>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0" name="TextBox 19"/>
          <p:cNvSpPr txBox="1"/>
          <p:nvPr/>
        </p:nvSpPr>
        <p:spPr>
          <a:xfrm>
            <a:off x="828675" y="3127920"/>
            <a:ext cx="4953000"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Transaction split visualization across SIP vs Lumpsum.</a:t>
            </a:r>
          </a:p>
        </p:txBody>
      </p:sp>
      <p:sp>
        <p:nvSpPr>
          <p:cNvPr id="21" name="TextBox 20"/>
          <p:cNvSpPr txBox="1"/>
          <p:nvPr/>
        </p:nvSpPr>
        <p:spPr>
          <a:xfrm>
            <a:off x="771525" y="3339851"/>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2" name="TextBox 21"/>
          <p:cNvSpPr txBox="1"/>
          <p:nvPr/>
        </p:nvSpPr>
        <p:spPr>
          <a:xfrm>
            <a:off x="828675" y="3342233"/>
            <a:ext cx="4953000"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State-wise inflow heat maps identifying high-volume regions.</a:t>
            </a:r>
          </a:p>
        </p:txBody>
      </p:sp>
      <p:pic>
        <p:nvPicPr>
          <p:cNvPr id="23" name="Picture 22" descr="image.png"/>
          <p:cNvPicPr>
            <a:picLocks noChangeAspect="1"/>
          </p:cNvPicPr>
          <p:nvPr/>
        </p:nvPicPr>
        <p:blipFill>
          <a:blip r:embed="rId13"/>
          <a:stretch>
            <a:fillRect/>
          </a:stretch>
        </p:blipFill>
        <p:spPr>
          <a:xfrm>
            <a:off x="668655" y="4028033"/>
            <a:ext cx="171450" cy="171450"/>
          </a:xfrm>
          <a:prstGeom prst="rect">
            <a:avLst/>
          </a:prstGeom>
        </p:spPr>
      </p:pic>
      <p:sp>
        <p:nvSpPr>
          <p:cNvPr id="24" name="TextBox 23"/>
          <p:cNvSpPr txBox="1"/>
          <p:nvPr/>
        </p:nvSpPr>
        <p:spPr>
          <a:xfrm>
            <a:off x="3364230" y="4654497"/>
            <a:ext cx="2257425" cy="209550"/>
          </a:xfrm>
          <a:prstGeom prst="rect">
            <a:avLst/>
          </a:prstGeom>
          <a:noFill/>
        </p:spPr>
        <p:txBody>
          <a:bodyPr wrap="square" lIns="0" tIns="0" rIns="0" bIns="0" anchor="ctr">
            <a:spAutoFit/>
          </a:bodyPr>
          <a:lstStyle/>
          <a:p>
            <a:pPr algn="l"/>
            <a:r>
              <a:rPr sz="1200" b="0" i="0" u="none">
                <a:solidFill>
                  <a:srgbClr val="38BDF8"/>
                </a:solidFill>
                <a:latin typeface="Open Sans SemiBold"/>
              </a:rPr>
              <a:t> Inflow Trends &amp; NAV Drill-through</a:t>
            </a:r>
            <a:r>
              <a:rPr sz="1200" b="0" i="0" u="none">
                <a:solidFill>
                  <a:srgbClr val="FFFFFF"/>
                </a:solidFill>
                <a:latin typeface="Open Sans"/>
              </a:rPr>
              <a:t> </a:t>
            </a:r>
            <a:r>
              <a:rPr sz="1200" b="0" i="0" u="none">
                <a:solidFill>
                  <a:srgbClr val="94A3B8"/>
                </a:solidFill>
                <a:latin typeface="Open Sans"/>
              </a:rPr>
              <a:t>NIFTY50 Overlay</a:t>
            </a:r>
          </a:p>
        </p:txBody>
      </p:sp>
      <p:sp>
        <p:nvSpPr>
          <p:cNvPr id="25" name="Rectangle 24"/>
          <p:cNvSpPr/>
          <p:nvPr/>
        </p:nvSpPr>
        <p:spPr>
          <a:xfrm>
            <a:off x="840105" y="4949772"/>
            <a:ext cx="4781550" cy="9525"/>
          </a:xfrm>
          <a:prstGeom prst="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3430" y="6023716"/>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7" name="TextBox 26"/>
          <p:cNvSpPr txBox="1"/>
          <p:nvPr/>
        </p:nvSpPr>
        <p:spPr>
          <a:xfrm>
            <a:off x="830580" y="6026097"/>
            <a:ext cx="4953000"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SIP flow trajectory overlay against NIFTY50 index trend.</a:t>
            </a:r>
          </a:p>
        </p:txBody>
      </p:sp>
      <p:sp>
        <p:nvSpPr>
          <p:cNvPr id="28" name="TextBox 27"/>
          <p:cNvSpPr txBox="1"/>
          <p:nvPr/>
        </p:nvSpPr>
        <p:spPr>
          <a:xfrm>
            <a:off x="773430" y="6238028"/>
            <a:ext cx="57150" cy="219075"/>
          </a:xfrm>
          <a:prstGeom prst="rect">
            <a:avLst/>
          </a:prstGeom>
          <a:noFill/>
        </p:spPr>
        <p:txBody>
          <a:bodyPr wrap="square" lIns="0" tIns="0" rIns="0" bIns="0" anchor="t">
            <a:spAutoFit/>
          </a:bodyPr>
          <a:lstStyle/>
          <a:p>
            <a:pPr algn="l"/>
            <a:r>
              <a:rPr sz="1125" b="0" i="0" u="none">
                <a:solidFill>
                  <a:srgbClr val="222222"/>
                </a:solidFill>
                <a:latin typeface="Open Sans"/>
              </a:rPr>
              <a:t>•</a:t>
            </a:r>
          </a:p>
        </p:txBody>
      </p:sp>
      <p:sp>
        <p:nvSpPr>
          <p:cNvPr id="29" name="TextBox 28"/>
          <p:cNvSpPr txBox="1"/>
          <p:nvPr/>
        </p:nvSpPr>
        <p:spPr>
          <a:xfrm>
            <a:off x="830580" y="6240410"/>
            <a:ext cx="4953000" cy="214312"/>
          </a:xfrm>
          <a:prstGeom prst="rect">
            <a:avLst/>
          </a:prstGeom>
          <a:noFill/>
        </p:spPr>
        <p:txBody>
          <a:bodyPr wrap="square" lIns="57150" tIns="0" rIns="0" bIns="0" anchor="t">
            <a:spAutoFit/>
          </a:bodyPr>
          <a:lstStyle/>
          <a:p>
            <a:pPr algn="l">
              <a:lnSpc>
                <a:spcPts val="1687"/>
              </a:lnSpc>
            </a:pPr>
            <a:r>
              <a:rPr sz="1125" b="0" i="0" u="none">
                <a:solidFill>
                  <a:srgbClr val="222222"/>
                </a:solidFill>
                <a:latin typeface="Open Sans"/>
              </a:rPr>
              <a:t>Interactive drill-through to individual scheme NAV historical details.</a:t>
            </a:r>
          </a:p>
        </p:txBody>
      </p:sp>
      <p:pic>
        <p:nvPicPr>
          <p:cNvPr id="30" name="Picture 29" descr="image.png"/>
          <p:cNvPicPr>
            <a:picLocks noChangeAspect="1"/>
          </p:cNvPicPr>
          <p:nvPr/>
        </p:nvPicPr>
        <p:blipFill>
          <a:blip r:embed="rId14"/>
          <a:stretch>
            <a:fillRect/>
          </a:stretch>
        </p:blipFill>
        <p:spPr>
          <a:xfrm>
            <a:off x="838200" y="1784895"/>
            <a:ext cx="171450" cy="133350"/>
          </a:xfrm>
          <a:prstGeom prst="rect">
            <a:avLst/>
          </a:prstGeom>
        </p:spPr>
      </p:pic>
      <p:sp>
        <p:nvSpPr>
          <p:cNvPr id="31" name="TextBox 30"/>
          <p:cNvSpPr txBox="1"/>
          <p:nvPr/>
        </p:nvSpPr>
        <p:spPr>
          <a:xfrm>
            <a:off x="962025" y="2299245"/>
            <a:ext cx="1282600" cy="285750"/>
          </a:xfrm>
          <a:prstGeom prst="rect">
            <a:avLst/>
          </a:prstGeom>
          <a:noFill/>
        </p:spPr>
        <p:txBody>
          <a:bodyPr wrap="square" lIns="0" tIns="0" rIns="0" bIns="0" anchor="t">
            <a:spAutoFit/>
          </a:bodyPr>
          <a:lstStyle/>
          <a:p>
            <a:pPr algn="l"/>
            <a:r>
              <a:rPr sz="1500" b="1" i="0" u="none">
                <a:solidFill>
                  <a:srgbClr val="38BDF8"/>
                </a:solidFill>
                <a:latin typeface="Poppins"/>
              </a:rPr>
              <a:t>32,778</a:t>
            </a:r>
          </a:p>
        </p:txBody>
      </p:sp>
      <p:sp>
        <p:nvSpPr>
          <p:cNvPr id="32" name="TextBox 31"/>
          <p:cNvSpPr txBox="1"/>
          <p:nvPr/>
        </p:nvSpPr>
        <p:spPr>
          <a:xfrm>
            <a:off x="962025" y="2584995"/>
            <a:ext cx="1282600" cy="142875"/>
          </a:xfrm>
          <a:prstGeom prst="rect">
            <a:avLst/>
          </a:prstGeom>
          <a:noFill/>
        </p:spPr>
        <p:txBody>
          <a:bodyPr wrap="square" lIns="0" tIns="0" rIns="0" bIns="0" anchor="t">
            <a:spAutoFit/>
          </a:bodyPr>
          <a:lstStyle/>
          <a:p>
            <a:pPr algn="l"/>
            <a:r>
              <a:rPr sz="825" b="0" i="0" u="none">
                <a:solidFill>
                  <a:srgbClr val="94A3B8"/>
                </a:solidFill>
                <a:latin typeface="Open Sans"/>
              </a:rPr>
              <a:t>Total Txns</a:t>
            </a:r>
          </a:p>
        </p:txBody>
      </p:sp>
      <p:sp>
        <p:nvSpPr>
          <p:cNvPr id="33" name="TextBox 32"/>
          <p:cNvSpPr txBox="1"/>
          <p:nvPr/>
        </p:nvSpPr>
        <p:spPr>
          <a:xfrm>
            <a:off x="2587525" y="2299245"/>
            <a:ext cx="1282749" cy="285750"/>
          </a:xfrm>
          <a:prstGeom prst="rect">
            <a:avLst/>
          </a:prstGeom>
          <a:noFill/>
        </p:spPr>
        <p:txBody>
          <a:bodyPr wrap="square" lIns="0" tIns="0" rIns="0" bIns="0" anchor="t">
            <a:spAutoFit/>
          </a:bodyPr>
          <a:lstStyle/>
          <a:p>
            <a:pPr algn="l"/>
            <a:r>
              <a:rPr sz="1500" b="1" i="0" u="none">
                <a:solidFill>
                  <a:srgbClr val="F05537"/>
                </a:solidFill>
                <a:latin typeface="Poppins"/>
              </a:rPr>
              <a:t>19,716</a:t>
            </a:r>
          </a:p>
        </p:txBody>
      </p:sp>
      <p:sp>
        <p:nvSpPr>
          <p:cNvPr id="34" name="TextBox 33"/>
          <p:cNvSpPr txBox="1"/>
          <p:nvPr/>
        </p:nvSpPr>
        <p:spPr>
          <a:xfrm>
            <a:off x="2587525" y="2584995"/>
            <a:ext cx="1282749" cy="142875"/>
          </a:xfrm>
          <a:prstGeom prst="rect">
            <a:avLst/>
          </a:prstGeom>
          <a:noFill/>
        </p:spPr>
        <p:txBody>
          <a:bodyPr wrap="square" lIns="0" tIns="0" rIns="0" bIns="0" anchor="t">
            <a:spAutoFit/>
          </a:bodyPr>
          <a:lstStyle/>
          <a:p>
            <a:pPr algn="l"/>
            <a:r>
              <a:rPr sz="825" b="0" i="0" u="none">
                <a:solidFill>
                  <a:srgbClr val="94A3B8"/>
                </a:solidFill>
                <a:latin typeface="Open Sans"/>
              </a:rPr>
              <a:t>SIP Txns</a:t>
            </a:r>
          </a:p>
        </p:txBody>
      </p:sp>
      <p:sp>
        <p:nvSpPr>
          <p:cNvPr id="35" name="TextBox 34"/>
          <p:cNvSpPr txBox="1"/>
          <p:nvPr/>
        </p:nvSpPr>
        <p:spPr>
          <a:xfrm>
            <a:off x="4213175" y="2299245"/>
            <a:ext cx="1282749" cy="285750"/>
          </a:xfrm>
          <a:prstGeom prst="rect">
            <a:avLst/>
          </a:prstGeom>
          <a:noFill/>
        </p:spPr>
        <p:txBody>
          <a:bodyPr wrap="square" lIns="0" tIns="0" rIns="0" bIns="0" anchor="t">
            <a:spAutoFit/>
          </a:bodyPr>
          <a:lstStyle/>
          <a:p>
            <a:pPr algn="l"/>
            <a:r>
              <a:rPr sz="1500" b="1" i="0" u="none">
                <a:solidFill>
                  <a:srgbClr val="A855F7"/>
                </a:solidFill>
                <a:latin typeface="Poppins"/>
              </a:rPr>
              <a:t>30-45</a:t>
            </a:r>
          </a:p>
        </p:txBody>
      </p:sp>
      <p:sp>
        <p:nvSpPr>
          <p:cNvPr id="36" name="TextBox 35"/>
          <p:cNvSpPr txBox="1"/>
          <p:nvPr/>
        </p:nvSpPr>
        <p:spPr>
          <a:xfrm>
            <a:off x="4213175" y="2584995"/>
            <a:ext cx="1282749" cy="142875"/>
          </a:xfrm>
          <a:prstGeom prst="rect">
            <a:avLst/>
          </a:prstGeom>
          <a:noFill/>
        </p:spPr>
        <p:txBody>
          <a:bodyPr wrap="square" lIns="0" tIns="0" rIns="0" bIns="0" anchor="t">
            <a:spAutoFit/>
          </a:bodyPr>
          <a:lstStyle/>
          <a:p>
            <a:pPr algn="l"/>
            <a:r>
              <a:rPr sz="825" b="0" i="0" u="none">
                <a:solidFill>
                  <a:srgbClr val="94A3B8"/>
                </a:solidFill>
                <a:latin typeface="Open Sans"/>
              </a:rPr>
              <a:t>Peak Age</a:t>
            </a:r>
          </a:p>
        </p:txBody>
      </p:sp>
      <p:pic>
        <p:nvPicPr>
          <p:cNvPr id="37" name="Picture 36" descr="image.png"/>
          <p:cNvPicPr>
            <a:picLocks noChangeAspect="1"/>
          </p:cNvPicPr>
          <p:nvPr/>
        </p:nvPicPr>
        <p:blipFill>
          <a:blip r:embed="rId15"/>
          <a:stretch>
            <a:fillRect/>
          </a:stretch>
        </p:blipFill>
        <p:spPr>
          <a:xfrm>
            <a:off x="840105" y="4683072"/>
            <a:ext cx="152400" cy="133350"/>
          </a:xfrm>
          <a:prstGeom prst="rect">
            <a:avLst/>
          </a:prstGeom>
        </p:spPr>
      </p:pic>
      <p:sp>
        <p:nvSpPr>
          <p:cNvPr id="38" name="TextBox 37"/>
          <p:cNvSpPr txBox="1"/>
          <p:nvPr/>
        </p:nvSpPr>
        <p:spPr>
          <a:xfrm>
            <a:off x="963930" y="5197422"/>
            <a:ext cx="1282600" cy="285750"/>
          </a:xfrm>
          <a:prstGeom prst="rect">
            <a:avLst/>
          </a:prstGeom>
          <a:noFill/>
        </p:spPr>
        <p:txBody>
          <a:bodyPr wrap="square" lIns="0" tIns="0" rIns="0" bIns="0" anchor="t">
            <a:spAutoFit/>
          </a:bodyPr>
          <a:lstStyle/>
          <a:p>
            <a:pPr algn="l"/>
            <a:r>
              <a:rPr sz="1500" b="1" i="0" u="none">
                <a:solidFill>
                  <a:srgbClr val="38BDF8"/>
                </a:solidFill>
                <a:latin typeface="Poppins"/>
              </a:rPr>
              <a:t>Monthly</a:t>
            </a:r>
          </a:p>
        </p:txBody>
      </p:sp>
      <p:sp>
        <p:nvSpPr>
          <p:cNvPr id="39" name="TextBox 38"/>
          <p:cNvSpPr txBox="1"/>
          <p:nvPr/>
        </p:nvSpPr>
        <p:spPr>
          <a:xfrm>
            <a:off x="963930" y="5483172"/>
            <a:ext cx="1282600" cy="142875"/>
          </a:xfrm>
          <a:prstGeom prst="rect">
            <a:avLst/>
          </a:prstGeom>
          <a:noFill/>
        </p:spPr>
        <p:txBody>
          <a:bodyPr wrap="square" lIns="0" tIns="0" rIns="0" bIns="0" anchor="t">
            <a:spAutoFit/>
          </a:bodyPr>
          <a:lstStyle/>
          <a:p>
            <a:pPr algn="l"/>
            <a:r>
              <a:rPr sz="825" b="0" i="0" u="none">
                <a:solidFill>
                  <a:srgbClr val="94A3B8"/>
                </a:solidFill>
                <a:latin typeface="Open Sans"/>
              </a:rPr>
              <a:t>SIP Inflows</a:t>
            </a:r>
          </a:p>
        </p:txBody>
      </p:sp>
      <p:sp>
        <p:nvSpPr>
          <p:cNvPr id="40" name="TextBox 39"/>
          <p:cNvSpPr txBox="1"/>
          <p:nvPr/>
        </p:nvSpPr>
        <p:spPr>
          <a:xfrm>
            <a:off x="2589430" y="5197422"/>
            <a:ext cx="1282749" cy="285750"/>
          </a:xfrm>
          <a:prstGeom prst="rect">
            <a:avLst/>
          </a:prstGeom>
          <a:noFill/>
        </p:spPr>
        <p:txBody>
          <a:bodyPr wrap="square" lIns="0" tIns="0" rIns="0" bIns="0" anchor="t">
            <a:spAutoFit/>
          </a:bodyPr>
          <a:lstStyle/>
          <a:p>
            <a:pPr algn="l"/>
            <a:r>
              <a:rPr sz="1500" b="1" i="0" u="none" dirty="0">
                <a:solidFill>
                  <a:srgbClr val="38BDF8"/>
                </a:solidFill>
                <a:latin typeface="Poppins"/>
              </a:rPr>
              <a:t>Heatmap</a:t>
            </a:r>
          </a:p>
        </p:txBody>
      </p:sp>
      <p:sp>
        <p:nvSpPr>
          <p:cNvPr id="41" name="TextBox 40"/>
          <p:cNvSpPr txBox="1"/>
          <p:nvPr/>
        </p:nvSpPr>
        <p:spPr>
          <a:xfrm>
            <a:off x="2589430" y="5483172"/>
            <a:ext cx="1282749" cy="142875"/>
          </a:xfrm>
          <a:prstGeom prst="rect">
            <a:avLst/>
          </a:prstGeom>
          <a:noFill/>
        </p:spPr>
        <p:txBody>
          <a:bodyPr wrap="square" lIns="0" tIns="0" rIns="0" bIns="0" anchor="t">
            <a:spAutoFit/>
          </a:bodyPr>
          <a:lstStyle/>
          <a:p>
            <a:pPr algn="l"/>
            <a:r>
              <a:rPr sz="825" b="0" i="0" u="none">
                <a:solidFill>
                  <a:srgbClr val="94A3B8"/>
                </a:solidFill>
                <a:latin typeface="Open Sans"/>
              </a:rPr>
              <a:t>Category Flow</a:t>
            </a:r>
          </a:p>
        </p:txBody>
      </p:sp>
      <p:sp>
        <p:nvSpPr>
          <p:cNvPr id="42" name="TextBox 41"/>
          <p:cNvSpPr txBox="1"/>
          <p:nvPr/>
        </p:nvSpPr>
        <p:spPr>
          <a:xfrm>
            <a:off x="4215080" y="5197422"/>
            <a:ext cx="1282749" cy="285750"/>
          </a:xfrm>
          <a:prstGeom prst="rect">
            <a:avLst/>
          </a:prstGeom>
          <a:noFill/>
        </p:spPr>
        <p:txBody>
          <a:bodyPr wrap="square" lIns="0" tIns="0" rIns="0" bIns="0" anchor="t">
            <a:spAutoFit/>
          </a:bodyPr>
          <a:lstStyle/>
          <a:p>
            <a:pPr algn="l"/>
            <a:r>
              <a:rPr sz="1500" b="1" i="0" u="none">
                <a:solidFill>
                  <a:srgbClr val="4ADE80"/>
                </a:solidFill>
                <a:latin typeface="Poppins"/>
              </a:rPr>
              <a:t>Drill-down</a:t>
            </a:r>
          </a:p>
        </p:txBody>
      </p:sp>
      <p:sp>
        <p:nvSpPr>
          <p:cNvPr id="43" name="TextBox 42"/>
          <p:cNvSpPr txBox="1"/>
          <p:nvPr/>
        </p:nvSpPr>
        <p:spPr>
          <a:xfrm>
            <a:off x="4215080" y="5483172"/>
            <a:ext cx="1282749" cy="142875"/>
          </a:xfrm>
          <a:prstGeom prst="rect">
            <a:avLst/>
          </a:prstGeom>
          <a:noFill/>
        </p:spPr>
        <p:txBody>
          <a:bodyPr wrap="square" lIns="0" tIns="0" rIns="0" bIns="0" anchor="t">
            <a:spAutoFit/>
          </a:bodyPr>
          <a:lstStyle/>
          <a:p>
            <a:pPr algn="l"/>
            <a:r>
              <a:rPr sz="825" b="0" i="0" u="none">
                <a:solidFill>
                  <a:srgbClr val="94A3B8"/>
                </a:solidFill>
                <a:latin typeface="Open Sans"/>
              </a:rPr>
              <a:t>NAV History</a:t>
            </a:r>
          </a:p>
        </p:txBody>
      </p:sp>
      <p:sp>
        <p:nvSpPr>
          <p:cNvPr id="44" name="TextBox 43"/>
          <p:cNvSpPr txBox="1"/>
          <p:nvPr/>
        </p:nvSpPr>
        <p:spPr>
          <a:xfrm>
            <a:off x="476250" y="419100"/>
            <a:ext cx="6550183" cy="365670"/>
          </a:xfrm>
          <a:prstGeom prst="rect">
            <a:avLst/>
          </a:prstGeom>
          <a:noFill/>
        </p:spPr>
        <p:txBody>
          <a:bodyPr wrap="square" lIns="0" tIns="0" rIns="0" bIns="0" anchor="ctr">
            <a:spAutoFit/>
          </a:bodyPr>
          <a:lstStyle/>
          <a:p>
            <a:pPr algn="l">
              <a:lnSpc>
                <a:spcPts val="2879"/>
              </a:lnSpc>
            </a:pPr>
            <a:r>
              <a:rPr sz="2400" b="1" i="0" u="none">
                <a:solidFill>
                  <a:srgbClr val="190482"/>
                </a:solidFill>
                <a:latin typeface="Open Sans"/>
              </a:rPr>
              <a:t>Power BI — Investor &amp; Market Analytics</a:t>
            </a:r>
          </a:p>
        </p:txBody>
      </p:sp>
      <p:sp>
        <p:nvSpPr>
          <p:cNvPr id="45" name="Rounded Rectangle 44"/>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8" name="Picture 47">
            <a:extLst>
              <a:ext uri="{FF2B5EF4-FFF2-40B4-BE49-F238E27FC236}">
                <a16:creationId xmlns:a16="http://schemas.microsoft.com/office/drawing/2014/main" id="{83DD8BE9-E8CC-6C25-F8F1-0A77E830D53C}"/>
              </a:ext>
            </a:extLst>
          </p:cNvPr>
          <p:cNvPicPr>
            <a:picLocks noChangeAspect="1"/>
          </p:cNvPicPr>
          <p:nvPr/>
        </p:nvPicPr>
        <p:blipFill>
          <a:blip r:embed="rId16"/>
          <a:stretch>
            <a:fillRect/>
          </a:stretch>
        </p:blipFill>
        <p:spPr>
          <a:xfrm>
            <a:off x="7026433" y="936889"/>
            <a:ext cx="4921609" cy="2743201"/>
          </a:xfrm>
          <a:prstGeom prst="rect">
            <a:avLst/>
          </a:prstGeom>
        </p:spPr>
      </p:pic>
      <p:pic>
        <p:nvPicPr>
          <p:cNvPr id="50" name="Picture 49">
            <a:extLst>
              <a:ext uri="{FF2B5EF4-FFF2-40B4-BE49-F238E27FC236}">
                <a16:creationId xmlns:a16="http://schemas.microsoft.com/office/drawing/2014/main" id="{4CC8A966-21C0-2670-907A-E39F19E004F4}"/>
              </a:ext>
            </a:extLst>
          </p:cNvPr>
          <p:cNvPicPr>
            <a:picLocks noChangeAspect="1"/>
          </p:cNvPicPr>
          <p:nvPr/>
        </p:nvPicPr>
        <p:blipFill>
          <a:blip r:embed="rId17"/>
          <a:stretch>
            <a:fillRect/>
          </a:stretch>
        </p:blipFill>
        <p:spPr>
          <a:xfrm>
            <a:off x="7026433" y="3880395"/>
            <a:ext cx="4921609" cy="2819579"/>
          </a:xfrm>
          <a:prstGeom prst="rect">
            <a:avLst/>
          </a:prstGeom>
        </p:spPr>
      </p:pic>
      <p:sp>
        <p:nvSpPr>
          <p:cNvPr id="54" name="TextBox 53">
            <a:extLst>
              <a:ext uri="{FF2B5EF4-FFF2-40B4-BE49-F238E27FC236}">
                <a16:creationId xmlns:a16="http://schemas.microsoft.com/office/drawing/2014/main" id="{B440D087-35F7-01F4-27FA-DE252BD6A68C}"/>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Fintech</a:t>
            </a:r>
            <a:endParaRPr sz="1200" b="1" i="0" u="none" dirty="0">
              <a:solidFill>
                <a:schemeClr val="tx1">
                  <a:lumMod val="75000"/>
                  <a:lumOff val="25000"/>
                </a:schemeClr>
              </a:solidFill>
              <a:latin typeface="Poppins"/>
            </a:endParaRPr>
          </a:p>
        </p:txBody>
      </p:sp>
      <p:pic>
        <p:nvPicPr>
          <p:cNvPr id="56" name="Picture 55">
            <a:extLst>
              <a:ext uri="{FF2B5EF4-FFF2-40B4-BE49-F238E27FC236}">
                <a16:creationId xmlns:a16="http://schemas.microsoft.com/office/drawing/2014/main" id="{AFB7DED2-241A-719A-2619-C2D58D8E51A2}"/>
              </a:ext>
            </a:extLst>
          </p:cNvPr>
          <p:cNvPicPr>
            <a:picLocks noChangeAspect="1"/>
          </p:cNvPicPr>
          <p:nvPr/>
        </p:nvPicPr>
        <p:blipFill>
          <a:blip r:embed="rId18">
            <a:extLst>
              <a:ext uri="{BEBA8EAE-BF5A-486C-A8C5-ECC9F3942E4B}">
                <a14:imgProps xmlns:a14="http://schemas.microsoft.com/office/drawing/2010/main">
                  <a14:imgLayer r:embed="rId19">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5F5"/>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76250" y="1013370"/>
            <a:ext cx="3644800" cy="1231106"/>
          </a:xfrm>
          <a:prstGeom prst="rect">
            <a:avLst/>
          </a:prstGeom>
        </p:spPr>
      </p:pic>
      <p:pic>
        <p:nvPicPr>
          <p:cNvPr id="4" name="Picture 3" descr="image.png"/>
          <p:cNvPicPr>
            <a:picLocks noChangeAspect="1"/>
          </p:cNvPicPr>
          <p:nvPr/>
        </p:nvPicPr>
        <p:blipFill>
          <a:blip r:embed="rId4"/>
          <a:stretch>
            <a:fillRect/>
          </a:stretch>
        </p:blipFill>
        <p:spPr>
          <a:xfrm>
            <a:off x="4273450" y="1013370"/>
            <a:ext cx="3644949" cy="1231106"/>
          </a:xfrm>
          <a:prstGeom prst="rect">
            <a:avLst/>
          </a:prstGeom>
        </p:spPr>
      </p:pic>
      <p:pic>
        <p:nvPicPr>
          <p:cNvPr id="5" name="Picture 4" descr="image.png"/>
          <p:cNvPicPr>
            <a:picLocks noChangeAspect="1"/>
          </p:cNvPicPr>
          <p:nvPr/>
        </p:nvPicPr>
        <p:blipFill>
          <a:blip r:embed="rId5"/>
          <a:stretch>
            <a:fillRect/>
          </a:stretch>
        </p:blipFill>
        <p:spPr>
          <a:xfrm>
            <a:off x="8070800" y="1013370"/>
            <a:ext cx="3644800" cy="1231106"/>
          </a:xfrm>
          <a:prstGeom prst="rect">
            <a:avLst/>
          </a:prstGeom>
        </p:spPr>
      </p:pic>
      <p:pic>
        <p:nvPicPr>
          <p:cNvPr id="6" name="Picture 5" descr="image.png"/>
          <p:cNvPicPr>
            <a:picLocks noChangeAspect="1"/>
          </p:cNvPicPr>
          <p:nvPr/>
        </p:nvPicPr>
        <p:blipFill>
          <a:blip r:embed="rId6"/>
          <a:stretch>
            <a:fillRect/>
          </a:stretch>
        </p:blipFill>
        <p:spPr>
          <a:xfrm>
            <a:off x="476250" y="2396876"/>
            <a:ext cx="3644800" cy="1231106"/>
          </a:xfrm>
          <a:prstGeom prst="rect">
            <a:avLst/>
          </a:prstGeom>
        </p:spPr>
      </p:pic>
      <p:pic>
        <p:nvPicPr>
          <p:cNvPr id="7" name="Picture 6" descr="image.png"/>
          <p:cNvPicPr>
            <a:picLocks noChangeAspect="1"/>
          </p:cNvPicPr>
          <p:nvPr/>
        </p:nvPicPr>
        <p:blipFill>
          <a:blip r:embed="rId7"/>
          <a:stretch>
            <a:fillRect/>
          </a:stretch>
        </p:blipFill>
        <p:spPr>
          <a:xfrm>
            <a:off x="4273450" y="2396876"/>
            <a:ext cx="3644949" cy="1231106"/>
          </a:xfrm>
          <a:prstGeom prst="rect">
            <a:avLst/>
          </a:prstGeom>
        </p:spPr>
      </p:pic>
      <p:pic>
        <p:nvPicPr>
          <p:cNvPr id="8" name="Picture 7" descr="image.png"/>
          <p:cNvPicPr>
            <a:picLocks noChangeAspect="1"/>
          </p:cNvPicPr>
          <p:nvPr/>
        </p:nvPicPr>
        <p:blipFill>
          <a:blip r:embed="rId8"/>
          <a:stretch>
            <a:fillRect/>
          </a:stretch>
        </p:blipFill>
        <p:spPr>
          <a:xfrm>
            <a:off x="8070800" y="2396876"/>
            <a:ext cx="3644800" cy="1231106"/>
          </a:xfrm>
          <a:prstGeom prst="rect">
            <a:avLst/>
          </a:prstGeom>
        </p:spPr>
      </p:pic>
      <p:pic>
        <p:nvPicPr>
          <p:cNvPr id="9" name="Picture 8" descr="image.png"/>
          <p:cNvPicPr>
            <a:picLocks noChangeAspect="1"/>
          </p:cNvPicPr>
          <p:nvPr/>
        </p:nvPicPr>
        <p:blipFill>
          <a:blip r:embed="rId9"/>
          <a:stretch>
            <a:fillRect/>
          </a:stretch>
        </p:blipFill>
        <p:spPr>
          <a:xfrm>
            <a:off x="7512843" y="495300"/>
            <a:ext cx="1785937" cy="213270"/>
          </a:xfrm>
          <a:prstGeom prst="rect">
            <a:avLst/>
          </a:prstGeom>
        </p:spPr>
      </p:pic>
      <p:sp>
        <p:nvSpPr>
          <p:cNvPr id="10" name="TextBox 9"/>
          <p:cNvSpPr txBox="1"/>
          <p:nvPr/>
        </p:nvSpPr>
        <p:spPr>
          <a:xfrm>
            <a:off x="885825" y="1213395"/>
            <a:ext cx="3035200" cy="200025"/>
          </a:xfrm>
          <a:prstGeom prst="rect">
            <a:avLst/>
          </a:prstGeom>
          <a:noFill/>
        </p:spPr>
        <p:txBody>
          <a:bodyPr wrap="square" lIns="0" tIns="0" rIns="0" bIns="0" anchor="ctr">
            <a:spAutoFit/>
          </a:bodyPr>
          <a:lstStyle/>
          <a:p>
            <a:pPr algn="l"/>
            <a:r>
              <a:rPr sz="1050" b="0" i="0" u="none">
                <a:solidFill>
                  <a:srgbClr val="190482"/>
                </a:solidFill>
                <a:latin typeface="Poppins SemiBold"/>
              </a:rPr>
              <a:t>1. Long-Term NAV Growth</a:t>
            </a:r>
          </a:p>
        </p:txBody>
      </p:sp>
      <p:sp>
        <p:nvSpPr>
          <p:cNvPr id="11" name="TextBox 10"/>
          <p:cNvSpPr txBox="1"/>
          <p:nvPr/>
        </p:nvSpPr>
        <p:spPr>
          <a:xfrm>
            <a:off x="676275" y="1508670"/>
            <a:ext cx="3244750" cy="535781"/>
          </a:xfrm>
          <a:prstGeom prst="rect">
            <a:avLst/>
          </a:prstGeom>
          <a:noFill/>
        </p:spPr>
        <p:txBody>
          <a:bodyPr wrap="square" lIns="0" tIns="0" rIns="0" bIns="0" anchor="t">
            <a:spAutoFit/>
          </a:bodyPr>
          <a:lstStyle/>
          <a:p>
            <a:pPr algn="l">
              <a:lnSpc>
                <a:spcPts val="1406"/>
              </a:lnSpc>
            </a:pPr>
            <a:r>
              <a:rPr sz="937" b="0" i="0" u="none">
                <a:solidFill>
                  <a:srgbClr val="475569"/>
                </a:solidFill>
                <a:latin typeface="Open Sans"/>
              </a:rPr>
              <a:t>Overall upward movement across 2022–2026 confirms strong compounding resilience of equity funds despite short-term pullbacks.</a:t>
            </a:r>
          </a:p>
        </p:txBody>
      </p:sp>
      <p:sp>
        <p:nvSpPr>
          <p:cNvPr id="12" name="TextBox 11"/>
          <p:cNvSpPr txBox="1"/>
          <p:nvPr/>
        </p:nvSpPr>
        <p:spPr>
          <a:xfrm>
            <a:off x="4702075" y="1213395"/>
            <a:ext cx="3016299" cy="200025"/>
          </a:xfrm>
          <a:prstGeom prst="rect">
            <a:avLst/>
          </a:prstGeom>
          <a:noFill/>
        </p:spPr>
        <p:txBody>
          <a:bodyPr wrap="square" lIns="0" tIns="0" rIns="0" bIns="0" anchor="ctr">
            <a:spAutoFit/>
          </a:bodyPr>
          <a:lstStyle/>
          <a:p>
            <a:pPr algn="l"/>
            <a:r>
              <a:rPr sz="1050" b="0" i="0" u="none">
                <a:solidFill>
                  <a:srgbClr val="190482"/>
                </a:solidFill>
                <a:latin typeface="Poppins SemiBold"/>
              </a:rPr>
              <a:t>2. Risk Separation</a:t>
            </a:r>
          </a:p>
        </p:txBody>
      </p:sp>
      <p:sp>
        <p:nvSpPr>
          <p:cNvPr id="13" name="TextBox 12"/>
          <p:cNvSpPr txBox="1"/>
          <p:nvPr/>
        </p:nvSpPr>
        <p:spPr>
          <a:xfrm>
            <a:off x="4473475" y="1508670"/>
            <a:ext cx="3244899" cy="535781"/>
          </a:xfrm>
          <a:prstGeom prst="rect">
            <a:avLst/>
          </a:prstGeom>
          <a:noFill/>
        </p:spPr>
        <p:txBody>
          <a:bodyPr wrap="square" lIns="0" tIns="0" rIns="0" bIns="0" anchor="t">
            <a:spAutoFit/>
          </a:bodyPr>
          <a:lstStyle/>
          <a:p>
            <a:pPr algn="l">
              <a:lnSpc>
                <a:spcPts val="1406"/>
              </a:lnSpc>
            </a:pPr>
            <a:r>
              <a:rPr sz="937" b="0" i="0" u="none">
                <a:solidFill>
                  <a:srgbClr val="475569"/>
                </a:solidFill>
                <a:latin typeface="Open Sans"/>
              </a:rPr>
              <a:t>Outperformers generated superior Sharpe (&gt;1.3) and Sortino (&gt;2.1) ratios, proving downside protection is key to long-term returns.</a:t>
            </a:r>
          </a:p>
        </p:txBody>
      </p:sp>
      <p:sp>
        <p:nvSpPr>
          <p:cNvPr id="14" name="TextBox 13"/>
          <p:cNvSpPr txBox="1"/>
          <p:nvPr/>
        </p:nvSpPr>
        <p:spPr>
          <a:xfrm>
            <a:off x="8499425" y="1213395"/>
            <a:ext cx="3016150" cy="200025"/>
          </a:xfrm>
          <a:prstGeom prst="rect">
            <a:avLst/>
          </a:prstGeom>
          <a:noFill/>
        </p:spPr>
        <p:txBody>
          <a:bodyPr wrap="square" lIns="0" tIns="0" rIns="0" bIns="0" anchor="ctr">
            <a:spAutoFit/>
          </a:bodyPr>
          <a:lstStyle/>
          <a:p>
            <a:pPr algn="l"/>
            <a:r>
              <a:rPr sz="1050" b="0" i="0" u="none">
                <a:solidFill>
                  <a:srgbClr val="190482"/>
                </a:solidFill>
                <a:latin typeface="Poppins SemiBold"/>
              </a:rPr>
              <a:t>3. VaR / CVaR Risk</a:t>
            </a:r>
          </a:p>
        </p:txBody>
      </p:sp>
      <p:sp>
        <p:nvSpPr>
          <p:cNvPr id="15" name="TextBox 14"/>
          <p:cNvSpPr txBox="1"/>
          <p:nvPr/>
        </p:nvSpPr>
        <p:spPr>
          <a:xfrm>
            <a:off x="8270825" y="1508670"/>
            <a:ext cx="3244750" cy="535781"/>
          </a:xfrm>
          <a:prstGeom prst="rect">
            <a:avLst/>
          </a:prstGeom>
          <a:noFill/>
        </p:spPr>
        <p:txBody>
          <a:bodyPr wrap="square" lIns="0" tIns="0" rIns="0" bIns="0" anchor="t">
            <a:spAutoFit/>
          </a:bodyPr>
          <a:lstStyle/>
          <a:p>
            <a:pPr algn="l">
              <a:lnSpc>
                <a:spcPts val="1406"/>
              </a:lnSpc>
            </a:pPr>
            <a:r>
              <a:rPr sz="937" b="0" i="0" u="none">
                <a:solidFill>
                  <a:srgbClr val="475569"/>
                </a:solidFill>
                <a:latin typeface="Open Sans"/>
              </a:rPr>
              <a:t>Historical VaR (95%) and CVaR analysis highlight elevated tail-risk in Small-Cap schemes, requiring strict exposure capping.</a:t>
            </a:r>
          </a:p>
        </p:txBody>
      </p:sp>
      <p:sp>
        <p:nvSpPr>
          <p:cNvPr id="16" name="TextBox 15"/>
          <p:cNvSpPr txBox="1"/>
          <p:nvPr/>
        </p:nvSpPr>
        <p:spPr>
          <a:xfrm>
            <a:off x="942975" y="2596901"/>
            <a:ext cx="2978050" cy="200025"/>
          </a:xfrm>
          <a:prstGeom prst="rect">
            <a:avLst/>
          </a:prstGeom>
          <a:noFill/>
        </p:spPr>
        <p:txBody>
          <a:bodyPr wrap="square" lIns="0" tIns="0" rIns="0" bIns="0" anchor="ctr">
            <a:spAutoFit/>
          </a:bodyPr>
          <a:lstStyle/>
          <a:p>
            <a:pPr algn="l"/>
            <a:r>
              <a:rPr sz="1050" b="0" i="0" u="none">
                <a:solidFill>
                  <a:srgbClr val="190482"/>
                </a:solidFill>
                <a:latin typeface="Poppins SemiBold"/>
              </a:rPr>
              <a:t>4. SIP Continuity &amp; Churn</a:t>
            </a:r>
          </a:p>
        </p:txBody>
      </p:sp>
      <p:sp>
        <p:nvSpPr>
          <p:cNvPr id="17" name="TextBox 16"/>
          <p:cNvSpPr txBox="1"/>
          <p:nvPr/>
        </p:nvSpPr>
        <p:spPr>
          <a:xfrm>
            <a:off x="676275" y="2892176"/>
            <a:ext cx="3244750" cy="535781"/>
          </a:xfrm>
          <a:prstGeom prst="rect">
            <a:avLst/>
          </a:prstGeom>
          <a:noFill/>
        </p:spPr>
        <p:txBody>
          <a:bodyPr wrap="square" lIns="0" tIns="0" rIns="0" bIns="0" anchor="t">
            <a:spAutoFit/>
          </a:bodyPr>
          <a:lstStyle/>
          <a:p>
            <a:pPr algn="l">
              <a:lnSpc>
                <a:spcPts val="1406"/>
              </a:lnSpc>
            </a:pPr>
            <a:r>
              <a:rPr sz="937" b="0" i="0" u="none">
                <a:solidFill>
                  <a:srgbClr val="475569"/>
                </a:solidFill>
                <a:latin typeface="Open Sans"/>
              </a:rPr>
              <a:t>Cohort tracking identified key drop-off intervals in SIP contributions, enabling proactive investor retention strategies.</a:t>
            </a:r>
          </a:p>
        </p:txBody>
      </p:sp>
      <p:sp>
        <p:nvSpPr>
          <p:cNvPr id="18" name="TextBox 17"/>
          <p:cNvSpPr txBox="1"/>
          <p:nvPr/>
        </p:nvSpPr>
        <p:spPr>
          <a:xfrm>
            <a:off x="4721125" y="2596901"/>
            <a:ext cx="2997249" cy="200025"/>
          </a:xfrm>
          <a:prstGeom prst="rect">
            <a:avLst/>
          </a:prstGeom>
          <a:noFill/>
        </p:spPr>
        <p:txBody>
          <a:bodyPr wrap="square" lIns="0" tIns="0" rIns="0" bIns="0" anchor="ctr">
            <a:spAutoFit/>
          </a:bodyPr>
          <a:lstStyle/>
          <a:p>
            <a:pPr algn="l"/>
            <a:r>
              <a:rPr sz="1050" b="0" i="0" u="none">
                <a:solidFill>
                  <a:srgbClr val="190482"/>
                </a:solidFill>
                <a:latin typeface="Poppins SemiBold"/>
              </a:rPr>
              <a:t>5. Sector Concentration</a:t>
            </a:r>
          </a:p>
        </p:txBody>
      </p:sp>
      <p:sp>
        <p:nvSpPr>
          <p:cNvPr id="19" name="TextBox 18"/>
          <p:cNvSpPr txBox="1"/>
          <p:nvPr/>
        </p:nvSpPr>
        <p:spPr>
          <a:xfrm>
            <a:off x="4473475" y="2892176"/>
            <a:ext cx="3244899" cy="535781"/>
          </a:xfrm>
          <a:prstGeom prst="rect">
            <a:avLst/>
          </a:prstGeom>
          <a:noFill/>
        </p:spPr>
        <p:txBody>
          <a:bodyPr wrap="square" lIns="0" tIns="0" rIns="0" bIns="0" anchor="t">
            <a:spAutoFit/>
          </a:bodyPr>
          <a:lstStyle/>
          <a:p>
            <a:pPr algn="l">
              <a:lnSpc>
                <a:spcPts val="1406"/>
              </a:lnSpc>
            </a:pPr>
            <a:r>
              <a:rPr sz="937" b="0" i="0" u="none">
                <a:solidFill>
                  <a:srgbClr val="475569"/>
                </a:solidFill>
                <a:latin typeface="Open Sans"/>
              </a:rPr>
              <a:t>Sector HHI index revealed high concentration risks in Banking and IT, emphasizing need for multi-asset diversification.</a:t>
            </a:r>
          </a:p>
        </p:txBody>
      </p:sp>
      <p:sp>
        <p:nvSpPr>
          <p:cNvPr id="20" name="TextBox 19"/>
          <p:cNvSpPr txBox="1"/>
          <p:nvPr/>
        </p:nvSpPr>
        <p:spPr>
          <a:xfrm>
            <a:off x="8470850" y="2596901"/>
            <a:ext cx="3044725" cy="200025"/>
          </a:xfrm>
          <a:prstGeom prst="rect">
            <a:avLst/>
          </a:prstGeom>
          <a:noFill/>
        </p:spPr>
        <p:txBody>
          <a:bodyPr wrap="square" lIns="0" tIns="0" rIns="0" bIns="0" anchor="ctr">
            <a:spAutoFit/>
          </a:bodyPr>
          <a:lstStyle/>
          <a:p>
            <a:pPr algn="l"/>
            <a:r>
              <a:rPr sz="1050" b="0" i="0" u="none">
                <a:solidFill>
                  <a:srgbClr val="190482"/>
                </a:solidFill>
                <a:latin typeface="Poppins SemiBold"/>
              </a:rPr>
              <a:t>6. Scorecard Model</a:t>
            </a:r>
          </a:p>
        </p:txBody>
      </p:sp>
      <p:sp>
        <p:nvSpPr>
          <p:cNvPr id="21" name="TextBox 20"/>
          <p:cNvSpPr txBox="1"/>
          <p:nvPr/>
        </p:nvSpPr>
        <p:spPr>
          <a:xfrm>
            <a:off x="8270825" y="2892176"/>
            <a:ext cx="3244750" cy="535781"/>
          </a:xfrm>
          <a:prstGeom prst="rect">
            <a:avLst/>
          </a:prstGeom>
          <a:noFill/>
        </p:spPr>
        <p:txBody>
          <a:bodyPr wrap="square" lIns="0" tIns="0" rIns="0" bIns="0" anchor="t">
            <a:spAutoFit/>
          </a:bodyPr>
          <a:lstStyle/>
          <a:p>
            <a:pPr algn="l">
              <a:lnSpc>
                <a:spcPts val="1406"/>
              </a:lnSpc>
            </a:pPr>
            <a:r>
              <a:rPr sz="937" b="0" i="0" u="none">
                <a:solidFill>
                  <a:srgbClr val="475569"/>
                </a:solidFill>
                <a:latin typeface="Open Sans"/>
              </a:rPr>
              <a:t>The 5-factor weighted scorecard provides an objective framework to benchmark schemes beyond pure unadjusted returns.</a:t>
            </a:r>
          </a:p>
        </p:txBody>
      </p:sp>
      <p:pic>
        <p:nvPicPr>
          <p:cNvPr id="22" name="Picture 21" descr="image.png"/>
          <p:cNvPicPr>
            <a:picLocks noChangeAspect="1"/>
          </p:cNvPicPr>
          <p:nvPr/>
        </p:nvPicPr>
        <p:blipFill>
          <a:blip r:embed="rId10"/>
          <a:stretch>
            <a:fillRect/>
          </a:stretch>
        </p:blipFill>
        <p:spPr>
          <a:xfrm>
            <a:off x="676275" y="1246733"/>
            <a:ext cx="114300" cy="133350"/>
          </a:xfrm>
          <a:prstGeom prst="rect">
            <a:avLst/>
          </a:prstGeom>
        </p:spPr>
      </p:pic>
      <p:pic>
        <p:nvPicPr>
          <p:cNvPr id="23" name="Picture 22" descr="image.png"/>
          <p:cNvPicPr>
            <a:picLocks noChangeAspect="1"/>
          </p:cNvPicPr>
          <p:nvPr/>
        </p:nvPicPr>
        <p:blipFill>
          <a:blip r:embed="rId11"/>
          <a:stretch>
            <a:fillRect/>
          </a:stretch>
        </p:blipFill>
        <p:spPr>
          <a:xfrm>
            <a:off x="4473475" y="1246733"/>
            <a:ext cx="133350" cy="133350"/>
          </a:xfrm>
          <a:prstGeom prst="rect">
            <a:avLst/>
          </a:prstGeom>
        </p:spPr>
      </p:pic>
      <p:pic>
        <p:nvPicPr>
          <p:cNvPr id="24" name="Picture 23" descr="image.png"/>
          <p:cNvPicPr>
            <a:picLocks noChangeAspect="1"/>
          </p:cNvPicPr>
          <p:nvPr/>
        </p:nvPicPr>
        <p:blipFill>
          <a:blip r:embed="rId12"/>
          <a:stretch>
            <a:fillRect/>
          </a:stretch>
        </p:blipFill>
        <p:spPr>
          <a:xfrm>
            <a:off x="8270825" y="1246733"/>
            <a:ext cx="133350" cy="133350"/>
          </a:xfrm>
          <a:prstGeom prst="rect">
            <a:avLst/>
          </a:prstGeom>
        </p:spPr>
      </p:pic>
      <p:pic>
        <p:nvPicPr>
          <p:cNvPr id="25" name="Picture 24" descr="image.png"/>
          <p:cNvPicPr>
            <a:picLocks noChangeAspect="1"/>
          </p:cNvPicPr>
          <p:nvPr/>
        </p:nvPicPr>
        <p:blipFill>
          <a:blip r:embed="rId13"/>
          <a:stretch>
            <a:fillRect/>
          </a:stretch>
        </p:blipFill>
        <p:spPr>
          <a:xfrm>
            <a:off x="676275" y="2630239"/>
            <a:ext cx="171450" cy="133350"/>
          </a:xfrm>
          <a:prstGeom prst="rect">
            <a:avLst/>
          </a:prstGeom>
        </p:spPr>
      </p:pic>
      <p:pic>
        <p:nvPicPr>
          <p:cNvPr id="26" name="Picture 25" descr="image.png"/>
          <p:cNvPicPr>
            <a:picLocks noChangeAspect="1"/>
          </p:cNvPicPr>
          <p:nvPr/>
        </p:nvPicPr>
        <p:blipFill>
          <a:blip r:embed="rId14"/>
          <a:stretch>
            <a:fillRect/>
          </a:stretch>
        </p:blipFill>
        <p:spPr>
          <a:xfrm>
            <a:off x="4473475" y="2630239"/>
            <a:ext cx="152400" cy="133350"/>
          </a:xfrm>
          <a:prstGeom prst="rect">
            <a:avLst/>
          </a:prstGeom>
        </p:spPr>
      </p:pic>
      <p:pic>
        <p:nvPicPr>
          <p:cNvPr id="27" name="Picture 26" descr="image.png"/>
          <p:cNvPicPr>
            <a:picLocks noChangeAspect="1"/>
          </p:cNvPicPr>
          <p:nvPr/>
        </p:nvPicPr>
        <p:blipFill>
          <a:blip r:embed="rId15"/>
          <a:stretch>
            <a:fillRect/>
          </a:stretch>
        </p:blipFill>
        <p:spPr>
          <a:xfrm>
            <a:off x="8270825" y="2630239"/>
            <a:ext cx="104775" cy="133350"/>
          </a:xfrm>
          <a:prstGeom prst="rect">
            <a:avLst/>
          </a:prstGeom>
        </p:spPr>
      </p:pic>
      <p:sp>
        <p:nvSpPr>
          <p:cNvPr id="28" name="TextBox 27"/>
          <p:cNvSpPr txBox="1"/>
          <p:nvPr/>
        </p:nvSpPr>
        <p:spPr>
          <a:xfrm>
            <a:off x="476250" y="419100"/>
            <a:ext cx="11239500" cy="365670"/>
          </a:xfrm>
          <a:prstGeom prst="rect">
            <a:avLst/>
          </a:prstGeom>
          <a:noFill/>
        </p:spPr>
        <p:txBody>
          <a:bodyPr wrap="square" lIns="0" tIns="0" rIns="0" bIns="0" anchor="ctr">
            <a:spAutoFit/>
          </a:bodyPr>
          <a:lstStyle/>
          <a:p>
            <a:pPr algn="l">
              <a:lnSpc>
                <a:spcPts val="2879"/>
              </a:lnSpc>
            </a:pPr>
            <a:r>
              <a:rPr sz="2400" b="1" i="0" u="none">
                <a:solidFill>
                  <a:srgbClr val="190482"/>
                </a:solidFill>
                <a:latin typeface="Open Sans"/>
              </a:rPr>
              <a:t>Key Findings &amp; Advanced Analytics</a:t>
            </a:r>
          </a:p>
        </p:txBody>
      </p:sp>
      <p:sp>
        <p:nvSpPr>
          <p:cNvPr id="29" name="Rounded Rectangle 28"/>
          <p:cNvSpPr/>
          <p:nvPr/>
        </p:nvSpPr>
        <p:spPr>
          <a:xfrm>
            <a:off x="476250" y="784770"/>
            <a:ext cx="457200" cy="38100"/>
          </a:xfrm>
          <a:prstGeom prst="roundRect">
            <a:avLst>
              <a:gd name="adj" fmla="val 50000"/>
            </a:avLst>
          </a:prstGeom>
          <a:solidFill>
            <a:srgbClr val="F055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E9AC8F11-A85F-5E70-2337-618E507CA4F8}"/>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chemeClr val="tx1">
                    <a:lumMod val="75000"/>
                    <a:lumOff val="25000"/>
                  </a:schemeClr>
                </a:solidFill>
                <a:latin typeface="Poppins"/>
              </a:rPr>
              <a:t>Bluestock</a:t>
            </a:r>
            <a:r>
              <a:rPr lang="en-US" sz="1200" b="1" i="0" u="none" dirty="0">
                <a:solidFill>
                  <a:schemeClr val="tx1">
                    <a:lumMod val="75000"/>
                    <a:lumOff val="25000"/>
                  </a:schemeClr>
                </a:solidFill>
                <a:latin typeface="Poppins"/>
              </a:rPr>
              <a:t> </a:t>
            </a:r>
            <a:r>
              <a:rPr lang="en-US" sz="1200" b="1" i="0" u="none" dirty="0" err="1">
                <a:solidFill>
                  <a:schemeClr val="tx1">
                    <a:lumMod val="75000"/>
                    <a:lumOff val="25000"/>
                  </a:schemeClr>
                </a:solidFill>
                <a:latin typeface="Poppins"/>
              </a:rPr>
              <a:t>FintechC</a:t>
            </a:r>
            <a:endParaRPr sz="1200" b="1" i="0" u="none" dirty="0">
              <a:solidFill>
                <a:schemeClr val="tx1">
                  <a:lumMod val="75000"/>
                  <a:lumOff val="25000"/>
                </a:schemeClr>
              </a:solidFill>
              <a:latin typeface="Poppins"/>
            </a:endParaRPr>
          </a:p>
        </p:txBody>
      </p:sp>
      <p:pic>
        <p:nvPicPr>
          <p:cNvPr id="35" name="Picture 34">
            <a:extLst>
              <a:ext uri="{FF2B5EF4-FFF2-40B4-BE49-F238E27FC236}">
                <a16:creationId xmlns:a16="http://schemas.microsoft.com/office/drawing/2014/main" id="{DA0EAFE3-558D-E610-AF9D-11B03C810110}"/>
              </a:ext>
            </a:extLst>
          </p:cNvPr>
          <p:cNvPicPr>
            <a:picLocks noChangeAspect="1"/>
          </p:cNvPicPr>
          <p:nvPr/>
        </p:nvPicPr>
        <p:blipFill>
          <a:blip r:embed="rId16">
            <a:extLst>
              <a:ext uri="{BEBA8EAE-BF5A-486C-A8C5-ECC9F3942E4B}">
                <a14:imgProps xmlns:a14="http://schemas.microsoft.com/office/drawing/2010/main">
                  <a14:imgLayer r:embed="rId17">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2650568" y="2432745"/>
            <a:ext cx="6890861" cy="591442"/>
          </a:xfrm>
          <a:prstGeom prst="rect">
            <a:avLst/>
          </a:prstGeom>
          <a:noFill/>
        </p:spPr>
        <p:txBody>
          <a:bodyPr wrap="square" lIns="0" tIns="0" rIns="0" bIns="0" anchor="t">
            <a:spAutoFit/>
          </a:bodyPr>
          <a:lstStyle/>
          <a:p>
            <a:pPr algn="ctr">
              <a:lnSpc>
                <a:spcPts val="4657"/>
              </a:lnSpc>
            </a:pPr>
            <a:r>
              <a:rPr sz="4050" b="0" i="0" u="none" dirty="0">
                <a:solidFill>
                  <a:srgbClr val="FFFFFF"/>
                </a:solidFill>
                <a:latin typeface="Poppins ExtraBold"/>
              </a:rPr>
              <a:t>Thank You!</a:t>
            </a:r>
          </a:p>
        </p:txBody>
      </p:sp>
      <p:sp>
        <p:nvSpPr>
          <p:cNvPr id="5" name="TextBox 4"/>
          <p:cNvSpPr txBox="1"/>
          <p:nvPr/>
        </p:nvSpPr>
        <p:spPr>
          <a:xfrm>
            <a:off x="2858999" y="3315177"/>
            <a:ext cx="6740700" cy="528606"/>
          </a:xfrm>
          <a:prstGeom prst="rect">
            <a:avLst/>
          </a:prstGeom>
          <a:noFill/>
        </p:spPr>
        <p:txBody>
          <a:bodyPr wrap="square" lIns="0" tIns="0" rIns="0" bIns="0" anchor="t">
            <a:spAutoFit/>
          </a:bodyPr>
          <a:lstStyle/>
          <a:p>
            <a:pPr algn="ctr">
              <a:lnSpc>
                <a:spcPct val="100000"/>
              </a:lnSpc>
            </a:pPr>
            <a:r>
              <a:rPr sz="1500" b="0" i="0" u="none" dirty="0" err="1">
                <a:solidFill>
                  <a:srgbClr val="DDF2FD"/>
                </a:solidFill>
                <a:latin typeface="Open Sans"/>
              </a:rPr>
              <a:t>Bluestock</a:t>
            </a:r>
            <a:r>
              <a:rPr sz="1500" b="0" i="0" u="none" dirty="0">
                <a:solidFill>
                  <a:srgbClr val="DDF2FD"/>
                </a:solidFill>
                <a:latin typeface="Open Sans"/>
              </a:rPr>
              <a:t> Fintech — </a:t>
            </a:r>
            <a:r>
              <a:rPr lang="en-US" sz="1500" b="0" i="0" u="none" dirty="0">
                <a:solidFill>
                  <a:srgbClr val="DDF2FD"/>
                </a:solidFill>
                <a:latin typeface="Open Sans"/>
              </a:rPr>
              <a:t> </a:t>
            </a:r>
            <a:r>
              <a:rPr lang="en-IN" dirty="0">
                <a:solidFill>
                  <a:schemeClr val="bg1"/>
                </a:solidFill>
              </a:rPr>
              <a:t>Capstone Project I - Mutual Fund Analytics</a:t>
            </a:r>
          </a:p>
          <a:p>
            <a:pPr algn="ctr">
              <a:lnSpc>
                <a:spcPts val="2100"/>
              </a:lnSpc>
            </a:pPr>
            <a:endParaRPr lang="en-IN" sz="1500" b="0" i="0" u="none" dirty="0">
              <a:solidFill>
                <a:srgbClr val="DDF2FD"/>
              </a:solidFill>
              <a:latin typeface="Open Sans"/>
            </a:endParaRPr>
          </a:p>
        </p:txBody>
      </p:sp>
      <p:pic>
        <p:nvPicPr>
          <p:cNvPr id="6" name="Picture 5" descr="image.png"/>
          <p:cNvPicPr>
            <a:picLocks noChangeAspect="1"/>
          </p:cNvPicPr>
          <p:nvPr/>
        </p:nvPicPr>
        <p:blipFill>
          <a:blip r:embed="rId3"/>
          <a:stretch>
            <a:fillRect/>
          </a:stretch>
        </p:blipFill>
        <p:spPr>
          <a:xfrm>
            <a:off x="3005137" y="3986658"/>
            <a:ext cx="6372225" cy="457200"/>
          </a:xfrm>
          <a:prstGeom prst="rect">
            <a:avLst/>
          </a:prstGeom>
        </p:spPr>
      </p:pic>
      <p:sp>
        <p:nvSpPr>
          <p:cNvPr id="9" name="TextBox 8"/>
          <p:cNvSpPr txBox="1"/>
          <p:nvPr/>
        </p:nvSpPr>
        <p:spPr>
          <a:xfrm>
            <a:off x="3281362" y="4129533"/>
            <a:ext cx="295275" cy="171450"/>
          </a:xfrm>
          <a:prstGeom prst="rect">
            <a:avLst/>
          </a:prstGeom>
          <a:noFill/>
        </p:spPr>
        <p:txBody>
          <a:bodyPr wrap="square" lIns="0" tIns="0" rIns="0" bIns="0" anchor="t">
            <a:spAutoFit/>
          </a:bodyPr>
          <a:lstStyle/>
          <a:p>
            <a:pPr algn="ctr"/>
            <a:r>
              <a:rPr sz="975" b="0" i="0" u="none">
                <a:solidFill>
                  <a:srgbClr val="FFFFFF"/>
                </a:solidFill>
                <a:latin typeface="Open Sans SemiBold"/>
              </a:rPr>
              <a:t>Data</a:t>
            </a:r>
          </a:p>
        </p:txBody>
      </p:sp>
      <p:pic>
        <p:nvPicPr>
          <p:cNvPr id="10" name="Picture 9" descr="image.png"/>
          <p:cNvPicPr>
            <a:picLocks noChangeAspect="1"/>
          </p:cNvPicPr>
          <p:nvPr/>
        </p:nvPicPr>
        <p:blipFill>
          <a:blip r:embed="rId4"/>
          <a:stretch>
            <a:fillRect/>
          </a:stretch>
        </p:blipFill>
        <p:spPr>
          <a:xfrm>
            <a:off x="3709987" y="4162871"/>
            <a:ext cx="95250" cy="104775"/>
          </a:xfrm>
          <a:prstGeom prst="rect">
            <a:avLst/>
          </a:prstGeom>
        </p:spPr>
      </p:pic>
      <p:sp>
        <p:nvSpPr>
          <p:cNvPr id="11" name="TextBox 10"/>
          <p:cNvSpPr txBox="1"/>
          <p:nvPr/>
        </p:nvSpPr>
        <p:spPr>
          <a:xfrm>
            <a:off x="3938587" y="4129533"/>
            <a:ext cx="704850" cy="171450"/>
          </a:xfrm>
          <a:prstGeom prst="rect">
            <a:avLst/>
          </a:prstGeom>
          <a:noFill/>
        </p:spPr>
        <p:txBody>
          <a:bodyPr wrap="square" lIns="0" tIns="0" rIns="0" bIns="0" anchor="t">
            <a:spAutoFit/>
          </a:bodyPr>
          <a:lstStyle/>
          <a:p>
            <a:pPr algn="ctr"/>
            <a:r>
              <a:rPr sz="975" b="0" i="0" u="none">
                <a:solidFill>
                  <a:srgbClr val="FFFFFF"/>
                </a:solidFill>
                <a:latin typeface="Open Sans SemiBold"/>
              </a:rPr>
              <a:t>ETL Pipeline</a:t>
            </a:r>
          </a:p>
        </p:txBody>
      </p:sp>
      <p:pic>
        <p:nvPicPr>
          <p:cNvPr id="12" name="Picture 11" descr="image.png"/>
          <p:cNvPicPr>
            <a:picLocks noChangeAspect="1"/>
          </p:cNvPicPr>
          <p:nvPr/>
        </p:nvPicPr>
        <p:blipFill>
          <a:blip r:embed="rId4"/>
          <a:stretch>
            <a:fillRect/>
          </a:stretch>
        </p:blipFill>
        <p:spPr>
          <a:xfrm>
            <a:off x="4776787" y="4162871"/>
            <a:ext cx="95250" cy="104775"/>
          </a:xfrm>
          <a:prstGeom prst="rect">
            <a:avLst/>
          </a:prstGeom>
        </p:spPr>
      </p:pic>
      <p:sp>
        <p:nvSpPr>
          <p:cNvPr id="13" name="TextBox 12"/>
          <p:cNvSpPr txBox="1"/>
          <p:nvPr/>
        </p:nvSpPr>
        <p:spPr>
          <a:xfrm>
            <a:off x="5005387" y="4129533"/>
            <a:ext cx="590550" cy="171450"/>
          </a:xfrm>
          <a:prstGeom prst="rect">
            <a:avLst/>
          </a:prstGeom>
          <a:noFill/>
        </p:spPr>
        <p:txBody>
          <a:bodyPr wrap="square" lIns="0" tIns="0" rIns="0" bIns="0" anchor="t">
            <a:spAutoFit/>
          </a:bodyPr>
          <a:lstStyle/>
          <a:p>
            <a:pPr algn="ctr"/>
            <a:r>
              <a:rPr sz="975" b="0" i="0" u="none">
                <a:solidFill>
                  <a:srgbClr val="FFFFFF"/>
                </a:solidFill>
                <a:latin typeface="Open Sans SemiBold"/>
              </a:rPr>
              <a:t>SQLite DB</a:t>
            </a:r>
          </a:p>
        </p:txBody>
      </p:sp>
      <p:pic>
        <p:nvPicPr>
          <p:cNvPr id="14" name="Picture 13" descr="image.png"/>
          <p:cNvPicPr>
            <a:picLocks noChangeAspect="1"/>
          </p:cNvPicPr>
          <p:nvPr/>
        </p:nvPicPr>
        <p:blipFill>
          <a:blip r:embed="rId4"/>
          <a:stretch>
            <a:fillRect/>
          </a:stretch>
        </p:blipFill>
        <p:spPr>
          <a:xfrm>
            <a:off x="5729287" y="4162871"/>
            <a:ext cx="95250" cy="104775"/>
          </a:xfrm>
          <a:prstGeom prst="rect">
            <a:avLst/>
          </a:prstGeom>
        </p:spPr>
      </p:pic>
      <p:sp>
        <p:nvSpPr>
          <p:cNvPr id="15" name="TextBox 14"/>
          <p:cNvSpPr txBox="1"/>
          <p:nvPr/>
        </p:nvSpPr>
        <p:spPr>
          <a:xfrm>
            <a:off x="5957887" y="4129533"/>
            <a:ext cx="542925" cy="171450"/>
          </a:xfrm>
          <a:prstGeom prst="rect">
            <a:avLst/>
          </a:prstGeom>
          <a:noFill/>
        </p:spPr>
        <p:txBody>
          <a:bodyPr wrap="square" lIns="0" tIns="0" rIns="0" bIns="0" anchor="t">
            <a:spAutoFit/>
          </a:bodyPr>
          <a:lstStyle/>
          <a:p>
            <a:pPr algn="ctr"/>
            <a:r>
              <a:rPr sz="975" b="0" i="0" u="none">
                <a:solidFill>
                  <a:srgbClr val="FFFFFF"/>
                </a:solidFill>
                <a:latin typeface="Open Sans SemiBold"/>
              </a:rPr>
              <a:t>Analytics</a:t>
            </a:r>
          </a:p>
        </p:txBody>
      </p:sp>
      <p:pic>
        <p:nvPicPr>
          <p:cNvPr id="16" name="Picture 15" descr="image.png"/>
          <p:cNvPicPr>
            <a:picLocks noChangeAspect="1"/>
          </p:cNvPicPr>
          <p:nvPr/>
        </p:nvPicPr>
        <p:blipFill>
          <a:blip r:embed="rId4"/>
          <a:stretch>
            <a:fillRect/>
          </a:stretch>
        </p:blipFill>
        <p:spPr>
          <a:xfrm>
            <a:off x="6634162" y="4162871"/>
            <a:ext cx="95250" cy="104775"/>
          </a:xfrm>
          <a:prstGeom prst="rect">
            <a:avLst/>
          </a:prstGeom>
        </p:spPr>
      </p:pic>
      <p:sp>
        <p:nvSpPr>
          <p:cNvPr id="17" name="TextBox 16"/>
          <p:cNvSpPr txBox="1"/>
          <p:nvPr/>
        </p:nvSpPr>
        <p:spPr>
          <a:xfrm>
            <a:off x="6862762" y="4129533"/>
            <a:ext cx="1228725" cy="171450"/>
          </a:xfrm>
          <a:prstGeom prst="rect">
            <a:avLst/>
          </a:prstGeom>
          <a:noFill/>
        </p:spPr>
        <p:txBody>
          <a:bodyPr wrap="square" lIns="0" tIns="0" rIns="0" bIns="0" anchor="t">
            <a:spAutoFit/>
          </a:bodyPr>
          <a:lstStyle/>
          <a:p>
            <a:pPr algn="ctr"/>
            <a:r>
              <a:rPr sz="975" b="0" i="0" u="none">
                <a:solidFill>
                  <a:srgbClr val="FFFFFF"/>
                </a:solidFill>
                <a:latin typeface="Open Sans SemiBold"/>
              </a:rPr>
              <a:t>Power BI Dashboard</a:t>
            </a:r>
          </a:p>
        </p:txBody>
      </p:sp>
      <p:pic>
        <p:nvPicPr>
          <p:cNvPr id="18" name="Picture 17" descr="image.png"/>
          <p:cNvPicPr>
            <a:picLocks noChangeAspect="1"/>
          </p:cNvPicPr>
          <p:nvPr/>
        </p:nvPicPr>
        <p:blipFill>
          <a:blip r:embed="rId4"/>
          <a:stretch>
            <a:fillRect/>
          </a:stretch>
        </p:blipFill>
        <p:spPr>
          <a:xfrm>
            <a:off x="8224837" y="4162871"/>
            <a:ext cx="95250" cy="104775"/>
          </a:xfrm>
          <a:prstGeom prst="rect">
            <a:avLst/>
          </a:prstGeom>
        </p:spPr>
      </p:pic>
      <p:sp>
        <p:nvSpPr>
          <p:cNvPr id="19" name="TextBox 18"/>
          <p:cNvSpPr txBox="1"/>
          <p:nvPr/>
        </p:nvSpPr>
        <p:spPr>
          <a:xfrm>
            <a:off x="8453436" y="4129533"/>
            <a:ext cx="608267" cy="150041"/>
          </a:xfrm>
          <a:prstGeom prst="rect">
            <a:avLst/>
          </a:prstGeom>
          <a:noFill/>
        </p:spPr>
        <p:txBody>
          <a:bodyPr wrap="square" lIns="0" tIns="0" rIns="0" bIns="0" anchor="t">
            <a:spAutoFit/>
          </a:bodyPr>
          <a:lstStyle/>
          <a:p>
            <a:pPr algn="ctr"/>
            <a:r>
              <a:rPr sz="975" b="0" i="0" u="none" dirty="0">
                <a:solidFill>
                  <a:srgbClr val="DDF2FD"/>
                </a:solidFill>
                <a:latin typeface="Open Sans SemiBold"/>
              </a:rPr>
              <a:t>Insights</a:t>
            </a:r>
          </a:p>
        </p:txBody>
      </p:sp>
      <p:pic>
        <p:nvPicPr>
          <p:cNvPr id="21" name="Picture 20">
            <a:extLst>
              <a:ext uri="{FF2B5EF4-FFF2-40B4-BE49-F238E27FC236}">
                <a16:creationId xmlns:a16="http://schemas.microsoft.com/office/drawing/2014/main" id="{64F139A4-A1F4-EB41-555C-28AC4A53F47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3000" r="90500">
                        <a14:foregroundMark x1="21532" y1="20720" x2="90000" y2="24500"/>
                        <a14:foregroundMark x1="90500" y1="25500" x2="84500" y2="84000"/>
                        <a14:foregroundMark x1="84500" y1="84500" x2="17162" y2="79956"/>
                        <a14:foregroundMark x1="3536" y1="79782" x2="3500" y2="80500"/>
                        <a14:foregroundMark x1="20981" y1="28188" x2="38500" y2="30000"/>
                        <a14:foregroundMark x1="38500" y1="30000" x2="44500" y2="30000"/>
                        <a14:foregroundMark x1="44500" y1="30000" x2="18861" y2="56921"/>
                        <a14:foregroundMark x1="19000" y1="30500" x2="14500" y2="84500"/>
                        <a14:foregroundMark x1="20500" y1="21000" x2="18000" y2="82000"/>
                        <a14:foregroundMark x1="85000" y1="42000" x2="81500" y2="68000"/>
                        <a14:foregroundMark x1="81500" y1="68000" x2="76000" y2="46000"/>
                        <a14:foregroundMark x1="18500" y1="23500" x2="9000" y2="82000"/>
                        <a14:backgroundMark x1="11000" y1="19000" x2="10882" y2="20606"/>
                      </a14:backgroundRemoval>
                    </a14:imgEffect>
                  </a14:imgLayer>
                </a14:imgProps>
              </a:ext>
            </a:extLst>
          </a:blip>
          <a:srcRect l="12505" t="23781" r="12615" b="23467"/>
          <a:stretch>
            <a:fillRect/>
          </a:stretch>
        </p:blipFill>
        <p:spPr>
          <a:xfrm>
            <a:off x="10125576" y="384606"/>
            <a:ext cx="446849" cy="31480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3" name="TextBox 22">
            <a:extLst>
              <a:ext uri="{FF2B5EF4-FFF2-40B4-BE49-F238E27FC236}">
                <a16:creationId xmlns:a16="http://schemas.microsoft.com/office/drawing/2014/main" id="{7EEBA9CC-5395-75E1-D60E-93F87E4561EF}"/>
              </a:ext>
            </a:extLst>
          </p:cNvPr>
          <p:cNvSpPr txBox="1"/>
          <p:nvPr/>
        </p:nvSpPr>
        <p:spPr>
          <a:xfrm>
            <a:off x="10622661" y="573285"/>
            <a:ext cx="1569339" cy="184666"/>
          </a:xfrm>
          <a:prstGeom prst="rect">
            <a:avLst/>
          </a:prstGeom>
          <a:noFill/>
        </p:spPr>
        <p:txBody>
          <a:bodyPr wrap="square" lIns="0" tIns="0" rIns="0" bIns="0" anchor="t">
            <a:spAutoFit/>
          </a:bodyPr>
          <a:lstStyle/>
          <a:p>
            <a:pPr algn="l"/>
            <a:r>
              <a:rPr lang="en-US" sz="1200" b="1" i="0" u="none" dirty="0" err="1">
                <a:solidFill>
                  <a:srgbClr val="DDF2FD"/>
                </a:solidFill>
                <a:latin typeface="Poppins"/>
              </a:rPr>
              <a:t>Bluestock</a:t>
            </a:r>
            <a:r>
              <a:rPr lang="en-US" sz="1200" b="1" i="0" u="none" dirty="0">
                <a:solidFill>
                  <a:srgbClr val="DDF2FD"/>
                </a:solidFill>
                <a:latin typeface="Poppins"/>
              </a:rPr>
              <a:t> Fintech</a:t>
            </a:r>
            <a:endParaRPr sz="1200" b="1" i="0" u="none" dirty="0">
              <a:solidFill>
                <a:srgbClr val="DDF2FD"/>
              </a:solidFill>
              <a:latin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TotalTime>
  <Words>1311</Words>
  <Application>Microsoft Office PowerPoint</Application>
  <PresentationFormat>Widescreen</PresentationFormat>
  <Paragraphs>269</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Mongolian Baiti</vt:lpstr>
      <vt:lpstr>Open Sans</vt:lpstr>
      <vt:lpstr>Open Sans SemiBold</vt:lpstr>
      <vt:lpstr>Poppins</vt:lpstr>
      <vt:lpstr>Poppins ExtraBold</vt:lpstr>
      <vt:lpstr>Poppins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Abhishek Mondal</dc:creator>
  <cp:keywords/>
  <dc:description>generated using python-pptx</dc:description>
  <cp:lastModifiedBy>Abhishek Mondal</cp:lastModifiedBy>
  <cp:revision>2</cp:revision>
  <dcterms:created xsi:type="dcterms:W3CDTF">2013-01-27T09:14:16Z</dcterms:created>
  <dcterms:modified xsi:type="dcterms:W3CDTF">2026-09-14T18:17:41Z</dcterms:modified>
  <cp:category/>
</cp:coreProperties>
</file>